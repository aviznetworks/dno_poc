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2743200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4800" b="1">
                <a:solidFill>
                  <a:srgbClr val="E9EEF5"/>
                </a:solidFill>
                <a:latin typeface="Calibri"/>
              </a:rPr>
              <a:t>DPF + HBN on </a:t>
            </a:r>
            <a:r>
              <a:rPr sz="4800" b="1">
                <a:solidFill>
                  <a:srgbClr val="9B57DE"/>
                </a:solidFill>
                <a:latin typeface="Calibri"/>
              </a:rPr>
              <a:t>BlueField-3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93A1B3"/>
                </a:solidFill>
                <a:latin typeface="Calibri"/>
              </a:rPr>
              <a:t>Provisioning and operating DPUs the Kubernetes way — flash, join, deploy HBN, and drive FRR from one control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3A1B3"/>
                </a:solidFill>
                <a:latin typeface="Calibri"/>
              </a:rPr>
              <a:t>Multi-DPU validated (S4 + S2 simultaneously)  ·  DOCA v25.10.1  ·  run it with </a:t>
            </a:r>
            <a:r>
              <a:rPr sz="1500" b="1">
                <a:solidFill>
                  <a:srgbClr val="E9EEF5"/>
                </a:solidFill>
                <a:latin typeface="Calibri"/>
              </a:rPr>
              <a:t>dpf/QUICKSTART.md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 · THE IDEA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is DPF?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E9EEF5"/>
                </a:solidFill>
                <a:latin typeface="Calibri"/>
              </a:rPr>
              <a:t>DPF = DOCA Platform Framework</a:t>
            </a:r>
            <a:r>
              <a:rPr sz="1800" b="0">
                <a:solidFill>
                  <a:srgbClr val="93A1B3"/>
                </a:solidFill>
                <a:latin typeface="Calibri"/>
              </a:rPr>
              <a:t>  (NVIDIA). Kubernetes-native lifecycle management for BlueField-3 DPUs.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0">
                <a:solidFill>
                  <a:srgbClr val="E9EEF5"/>
                </a:solidFill>
                <a:latin typeface="Calibri"/>
              </a:rPr>
              <a:t>You </a:t>
            </a:r>
            <a:r>
              <a:rPr sz="1700" b="1">
                <a:solidFill>
                  <a:srgbClr val="E9EEF5"/>
                </a:solidFill>
                <a:latin typeface="Calibri"/>
              </a:rPr>
              <a:t>declare the desired state</a:t>
            </a:r>
            <a:r>
              <a:rPr sz="1700" b="0">
                <a:solidFill>
                  <a:srgbClr val="E9EEF5"/>
                </a:solidFill>
                <a:latin typeface="Calibri"/>
              </a:rPr>
              <a:t> (which OS image, which cluster, which workloads) as Kubernetes objects.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0">
                <a:solidFill>
                  <a:srgbClr val="E9EEF5"/>
                </a:solidFill>
                <a:latin typeface="Calibri"/>
              </a:rPr>
              <a:t>DPF </a:t>
            </a:r>
            <a:r>
              <a:rPr sz="1700" b="1">
                <a:solidFill>
                  <a:srgbClr val="E9EEF5"/>
                </a:solidFill>
                <a:latin typeface="Calibri"/>
              </a:rPr>
              <a:t>makes it happen</a:t>
            </a:r>
            <a:r>
              <a:rPr sz="1700" b="0">
                <a:solidFill>
                  <a:srgbClr val="E9EEF5"/>
                </a:solidFill>
                <a:latin typeface="Calibri"/>
              </a:rPr>
              <a:t>: flashes the BFB → boots the BF3 → joins it to a cluster → deploys services (HBN) onto it.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9B57DE"/>
                </a:solidFill>
                <a:latin typeface="Calibri"/>
              </a:rPr>
              <a:t>▪  </a:t>
            </a:r>
            <a:r>
              <a:rPr sz="1700" b="1">
                <a:solidFill>
                  <a:srgbClr val="E9EEF5"/>
                </a:solidFill>
                <a:latin typeface="Calibri"/>
              </a:rPr>
              <a:t>One control point for many DPUs</a:t>
            </a:r>
            <a:r>
              <a:rPr sz="1700" b="0">
                <a:solidFill>
                  <a:srgbClr val="E9EEF5"/>
                </a:solidFill>
                <a:latin typeface="Calibri"/>
              </a:rPr>
              <a:t> — no SSH to each box. The same kubectl drives 1 or 100.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2 · FOUNDATION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Kubernetes in 60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4864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A371F7"/>
                </a:solidFill>
                <a:latin typeface="Calibri"/>
              </a:rPr>
              <a:t>CLUSTER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control plane (API + scheduler + etcd) that runs &amp; tracks everything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907792"/>
            <a:ext cx="50292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3FB950"/>
                </a:solidFill>
                <a:latin typeface="Calibri"/>
              </a:rPr>
              <a:t>NODE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a machine running kubelet that workloads land 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3986784"/>
            <a:ext cx="45720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58A6FF"/>
                </a:solidFill>
                <a:latin typeface="Calibri"/>
              </a:rPr>
              <a:t>POD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1+ containers sharing one network identity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065776"/>
            <a:ext cx="4114800" cy="960120"/>
          </a:xfrm>
          <a:prstGeom prst="roundRect">
            <a:avLst/>
          </a:prstGeom>
          <a:solidFill>
            <a:srgbClr val="141B27"/>
          </a:solidFill>
          <a:ln w="25400">
            <a:solidFill>
              <a:srgbClr val="F08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36576"/>
          <a:lstStyle/>
          <a:p>
            <a:pPr algn="ctr"/>
            <a:r>
              <a:rPr sz="1300" b="1">
                <a:solidFill>
                  <a:srgbClr val="F0883E"/>
                </a:solidFill>
                <a:latin typeface="Calibri"/>
              </a:rPr>
              <a:t>CONTAINER</a:t>
            </a:r>
          </a:p>
          <a:p>
            <a:r>
              <a:rPr sz="1100">
                <a:solidFill>
                  <a:srgbClr val="93A1B3"/>
                </a:solidFill>
                <a:latin typeface="Calibri"/>
              </a:rPr>
              <a:t>a process isolated by Linux namespaces + cgroups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82880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Declarative: </a:t>
            </a:r>
            <a:r>
              <a:rPr sz="1500" b="0">
                <a:solidFill>
                  <a:srgbClr val="E9EEF5"/>
                </a:solidFill>
                <a:latin typeface="Calibri"/>
              </a:rPr>
              <a:t>you describe the end state; controllers reconcile to it.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kubectl </a:t>
            </a:r>
            <a:r>
              <a:rPr sz="1500" b="0">
                <a:solidFill>
                  <a:srgbClr val="E9EEF5"/>
                </a:solidFill>
                <a:latin typeface="Calibri"/>
              </a:rPr>
              <a:t>is the remote control — talks to the cluster API, not the machines.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9B57DE"/>
                </a:solidFill>
                <a:latin typeface="Calibri"/>
              </a:rPr>
              <a:t>▪  </a:t>
            </a:r>
            <a:r>
              <a:rPr sz="1500" b="1">
                <a:solidFill>
                  <a:srgbClr val="E9EEF5"/>
                </a:solidFill>
                <a:latin typeface="Calibri"/>
              </a:rPr>
              <a:t>DaemonSet</a:t>
            </a:r>
            <a:r>
              <a:rPr sz="1500" b="0">
                <a:solidFill>
                  <a:srgbClr val="E9EEF5"/>
                </a:solidFill>
                <a:latin typeface="Calibri"/>
              </a:rPr>
              <a:t> = “one pod on every node” → deploy once, runs fleet-wide.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DPF builds on these primitives — the BF3 becomes a node, HBN becomes a pod.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3 · NVIDIA'S BUILDING BLOCKS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NVIDIA built for DPF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93A1B3"/>
                </a:solidFill>
                <a:latin typeface="Calibri"/>
              </a:rPr>
              <a:t>The DPF Operator + sub-controllers (provisioning · dpuservice · kamaji-cm · servicechainset), driven by custom resources you declare: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371F7"/>
                </a:solidFill>
                <a:latin typeface="Calibri"/>
              </a:rPr>
              <a:t>DPFOperatorConfig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Bootstraps the whole system on the DPF VM.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3B341"/>
                </a:solidFill>
                <a:latin typeface="Calibri"/>
              </a:rPr>
              <a:t>BFB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The DPU OS image (DOCA bf-bundle) served to the BF3.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2606040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0883E"/>
                </a:solidFill>
                <a:latin typeface="Calibri"/>
              </a:rPr>
              <a:t>DPUFlavor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How to flash: NIC firmware, hugepages, SubFunctions, config files.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371F7"/>
                </a:solidFill>
                <a:latin typeface="Calibri"/>
              </a:rPr>
              <a:t>DPUCluster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A per-DPU virtual k8s control plane, run by Kamaji as pods on the DPF VM.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DPU / DPUNode / DPUDevice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The physical BF3 being provisioned and tracked.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18704" y="4361688"/>
            <a:ext cx="3383280" cy="15544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DPUService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Workloads pushed onto DPUs — CNI, and HBN.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4 · TOPOLOGY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Our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33832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DPF Operator VM</a:t>
            </a:r>
            <a:r>
              <a:rPr sz="1300">
                <a:solidFill>
                  <a:srgbClr val="CDD9E5"/>
                </a:solidFill>
                <a:latin typeface="Consolas"/>
              </a:rPr>
              <a:t>  (S5 · 10.4.5.136)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the control plane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k3s · DPF Operator v25.10.1 · Kamaji · ArgoCD · bfb-registry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flash BFB  (rshim via x86 host, or Redfish)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Kamaji virtual control plane  ◄── BF3 kubelet joins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▼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BF3 #1 (S4)</a:t>
            </a:r>
            <a:r>
              <a:rPr sz="1300">
                <a:solidFill>
                  <a:srgbClr val="CDD9E5"/>
                </a:solidFill>
                <a:latin typeface="Consolas"/>
              </a:rPr>
              <a:t>  worker1 · apiserver :6443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one operator,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BF3 #2 (S2)</a:t>
            </a:r>
            <a:r>
              <a:rPr sz="1300">
                <a:solidFill>
                  <a:srgbClr val="CDD9E5"/>
                </a:solidFill>
                <a:latin typeface="Consolas"/>
              </a:rPr>
              <a:t>  worker2 · apiserver :6444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many DPUs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each BF3 = a Kubernetes WORKER node → runs HBN (FRR) as a pod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│  PCIe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     ▼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B57DE"/>
                </a:solidFill>
                <a:latin typeface="Consolas"/>
              </a:rPr>
              <a:t>x86 host</a:t>
            </a:r>
            <a:r>
              <a:rPr sz="1300">
                <a:solidFill>
                  <a:srgbClr val="CDD9E5"/>
                </a:solidFill>
                <a:latin typeface="Consolas"/>
              </a:rPr>
              <a:t>  (10.20.13.226)           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NOT in k8s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   BF3 rshim (flash) · SR-IOV VFs (vf0..vf7)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Subnet note: in this lab, TCP 10.20.13.x → 10.4.5.x is blocked → a small SSH tunnel bridges the BF3's join. Same-subnet setups skip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5 · WHO DOES WHAT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DPF VM ↔ BF3 ↔ host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8288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557784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Runs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DPF VM
10.4.5.136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Control plane / operator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k3s, DPF Operator, Kamaji (DPU control planes), ArgoCD, bfb-registry, kubectl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BF3
s4-dpu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k8s worker node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kubelet + crictl (no kubectl); the doca-hbn pod = FRR/zebra/NVUE; CNI pods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E9EEF5"/>
                          </a:solidFill>
                          <a:latin typeface="Calibri"/>
                        </a:rPr>
                        <a:t>x86 host
10.20.13.226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Not in k8s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9EEF5"/>
                          </a:solidFill>
                          <a:latin typeface="Calibri"/>
                        </a:rPr>
                        <a:t>BF3 PCIe rshim (OS flash) + SR-IOV VFs vf0..vf7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Key point: the x86 host never joins Kubernetes — only the BF3 ARM does.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6 · THE BRINGUP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How a BF3 comes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1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Stage BFB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copy the image to the DPF VM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2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Run bringup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bringup_dpf.sh --worker worker1 — IPs/creds from config.yaml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3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First boot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2 console commands: password + systemctl start dpf-firstboot-kick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4616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4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Re-run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DPU goes Ready, HBN DaemonSet deploys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5168" y="2103120"/>
            <a:ext cx="1993392" cy="201168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onsolas"/>
              </a:rPr>
              <a:t>5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E9EEF5"/>
                </a:solidFill>
                <a:latin typeface="Calibri"/>
              </a:rPr>
              <a:t>Host VFs</a:t>
            </a:r>
          </a:p>
          <a:p>
            <a:r>
              <a:rPr sz="1150">
                <a:solidFill>
                  <a:srgbClr val="93A1B3"/>
                </a:solidFill>
                <a:latin typeface="Calibri"/>
              </a:rPr>
              <a:t>setup_host_vfs.sh → vf0..vf7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The script is idempotent — run → do the first-boot steps → re-run to finish. Full runbook: dpf/QUICKSTART.md.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7 · HOST PORTS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Create the workload ports (host VFs)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93A1B3"/>
                </a:solidFill>
                <a:latin typeface="Calibri"/>
              </a:rPr>
              <a:t>SR-IOV VFs on the x86 host are the ports your VMs / workloads plug into. One command creates and names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515600" cy="118872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3A1B3"/>
                </a:solidFill>
                <a:latin typeface="Consolas"/>
              </a:rPr>
              <a:t># on the x86 host, after HBN is up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sudo ./dpf/scripts/setup_host_vfs.sh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→ vf0 .. vf7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sudo ./dpf/scripts/setup_host_vfs.sh --persist  </a:t>
            </a:r>
            <a:r>
              <a:rPr sz="1300">
                <a:solidFill>
                  <a:srgbClr val="93A1B3"/>
                </a:solidFill>
                <a:latin typeface="Consolas"/>
              </a:rPr>
              <a:t># survive reboot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Auto-detects</a:t>
            </a:r>
            <a:r>
              <a:rPr sz="1600" b="0">
                <a:solidFill>
                  <a:srgbClr val="E9EEF5"/>
                </a:solidFill>
                <a:latin typeface="Calibri"/>
              </a:rPr>
              <a:t> the BlueField-3 PFs by PCI id — no NIC names to look up.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0">
                <a:solidFill>
                  <a:srgbClr val="E9EEF5"/>
                </a:solidFill>
                <a:latin typeface="Calibri"/>
              </a:rPr>
              <a:t>Names them vf0..vf3 (PF0) and vf4..vf7 (PF1).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Refuses to run with &gt;1 BF3</a:t>
            </a:r>
            <a:r>
              <a:rPr sz="1600" b="0">
                <a:solidFill>
                  <a:srgbClr val="E9EEF5"/>
                </a:solidFill>
                <a:latin typeface="Calibri"/>
              </a:rPr>
              <a:t> on a host (avoids ambiguous naming).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8 · MENTAL MODEL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Think of the BF3 as a router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486400" cy="33832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ToR / network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  │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</a:t>
            </a:r>
            <a:r>
              <a:rPr sz="1250">
                <a:solidFill>
                  <a:srgbClr val="9B57DE"/>
                </a:solidFill>
                <a:latin typeface="Consolas"/>
              </a:rPr>
              <a:t>p0  p1</a:t>
            </a:r>
            <a:r>
              <a:rPr sz="1250">
                <a:solidFill>
                  <a:srgbClr val="93A1B3"/>
                </a:solidFill>
                <a:latin typeface="Consolas"/>
              </a:rPr>
              <a:t>           ← physical uplinks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┌───────┴───┴───────────┐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BF3  =  ROUTER (FRR)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uplinks: p0_if p1_if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│   ports  : pf0vfN_if   │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└───────────┬───────────┘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    </a:t>
            </a:r>
            <a:r>
              <a:rPr sz="1250">
                <a:solidFill>
                  <a:srgbClr val="9B57DE"/>
                </a:solidFill>
                <a:latin typeface="Consolas"/>
              </a:rPr>
              <a:t>vf0 … vf7</a:t>
            </a:r>
            <a:r>
              <a:rPr sz="1250">
                <a:solidFill>
                  <a:srgbClr val="93A1B3"/>
                </a:solidFill>
                <a:latin typeface="Consolas"/>
              </a:rPr>
              <a:t>          ← workloads attach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        x86 host / VMs &amp; apps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98079" y="1828800"/>
          <a:ext cx="3931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5544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Host port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Router (FRR)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93A1B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vf0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pf0vf0_if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vf1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vf2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pf0vf2_if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vf3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pf0vf3_if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vf4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pf1vf0_if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vf5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vf6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pf1vf2_if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vf7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pf1vf3_if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p0 / p1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9C5CF"/>
                          </a:solidFill>
                          <a:latin typeface="Consolas"/>
                        </a:rPr>
                        <a:t>p0_if / p1_if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E9EEF5"/>
                          </a:solidFill>
                          <a:latin typeface="Calibri"/>
                        </a:rPr>
                        <a:t>uplinks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9 · DEMO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Is everything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5544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93A1B3"/>
                </a:solidFill>
                <a:latin typeface="Consolas"/>
              </a:rPr>
              <a:t># on the DPF Operator VM — operator + provisioning state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kubectl get dpfoperatorconfig -n dpf-operator-system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Ready=True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kubectl get dpu,dpucluster,tenantcontrolplane -n dpf-operator-system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CDD9E5"/>
                </a:solidFill>
                <a:latin typeface="Consolas"/>
              </a:rPr>
              <a:t>./dpf/scripts/fleet_status.sh --frr                          </a:t>
            </a:r>
            <a:r>
              <a:rPr sz="1300">
                <a:solidFill>
                  <a:srgbClr val="93A1B3"/>
                </a:solidFill>
                <a:latin typeface="Consolas"/>
              </a:rPr>
              <a:t># ALL DPUs: node/HBN/FRR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57600"/>
            <a:ext cx="10515600" cy="137160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DPU s4-dpu:        Ready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DPUCluster:        True   Ready   kamaji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300">
                <a:solidFill>
                  <a:srgbClr val="E9EEF5"/>
                </a:solidFill>
                <a:latin typeface="Consolas"/>
              </a:rPr>
              <a:t>TenantControlPlane:  Ready  10.4.5.136:6443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10 · DEMO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The BF3 is a worker node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292608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point kubectl at the DPU cluster (Kamaji)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D="kubectl --kubeconfig /home/dpu-vm/dpu-tc-kubeconfig"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get nodes -o wide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NAME     STATUS   ROLES    VERSION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s4-dpu   Ready    &lt;none&gt;   v1.34.4      </a:t>
            </a:r>
            <a:r>
              <a:rPr sz="1250">
                <a:solidFill>
                  <a:srgbClr val="93A1B3"/>
                </a:solidFill>
                <a:latin typeface="Consolas"/>
              </a:rPr>
              <a:t># ← the BF3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get pods -A | grep -E 'doca-hbn|flannel|coredns'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   doca-hbn-xxxxx   1/1   Running   </a:t>
            </a:r>
            <a:r>
              <a:rPr sz="1250">
                <a:solidFill>
                  <a:srgbClr val="93A1B3"/>
                </a:solidFill>
                <a:latin typeface="Consolas"/>
              </a:rPr>
              <a:t># ← HBN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100 DPUs = 100 worker nodes in this view. Add one → its HBN DaemonSet pod schedules automatically.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11 · DEMO — THE PAYOFF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Reach FRR with kubectl — no SSH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3200400"/>
          </a:xfrm>
          <a:prstGeom prst="roundRect">
            <a:avLst/>
          </a:prstGeom>
          <a:solidFill>
            <a:srgbClr val="070A10"/>
          </a:solidFill>
          <a:ln w="9525">
            <a:solidFill>
              <a:srgbClr val="9B5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POD=$($D get pod -n doca-hbn -o jsonpath='{.items[0].metadata.name}')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drop into FRR's CLI (zebra/bgpd/staticd answer through vtysh)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exec -it -n doca-hbn $POD -- </a:t>
            </a:r>
            <a:r>
              <a:rPr sz="1250">
                <a:solidFill>
                  <a:srgbClr val="9B57DE"/>
                </a:solidFill>
                <a:latin typeface="Consolas"/>
              </a:rPr>
              <a:t>vtysh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doca-hbn# show interface brief        </a:t>
            </a:r>
            <a:r>
              <a:rPr sz="1250">
                <a:solidFill>
                  <a:srgbClr val="93A1B3"/>
                </a:solidFill>
                <a:latin typeface="Consolas"/>
              </a:rPr>
              <a:t># p0_if, pf0vf0_if …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E9EEF5"/>
                </a:solidFill>
                <a:latin typeface="Consolas"/>
              </a:rPr>
              <a:t>doca-hbn# show ip route               </a:t>
            </a:r>
            <a:r>
              <a:rPr sz="1250">
                <a:solidFill>
                  <a:srgbClr val="93A1B3"/>
                </a:solidFill>
                <a:latin typeface="Consolas"/>
              </a:rPr>
              <a:t># zebra's RIB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93A1B3"/>
                </a:solidFill>
                <a:latin typeface="Consolas"/>
              </a:rPr>
              <a:t># one-shot, no shell: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250">
                <a:solidFill>
                  <a:srgbClr val="CDD9E5"/>
                </a:solidFill>
                <a:latin typeface="Consolas"/>
              </a:rPr>
              <a:t>$D exec -n doca-hbn $POD -- vtysh -c "show interface brief"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93A1B3"/>
                </a:solidFill>
                <a:latin typeface="Calibri"/>
              </a:rPr>
              <a:t>kubectl exec rides the cluster → BF3 kubelet → into the HBN container. Same command for any DPU in the fleet.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12 · CURRENT SCOPE &amp; CAVEATS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What works today — and what doesn't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Multi-DPU works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one operator manages many BF3s (S4 :6443 + S2 :6444 validated simultaneously; unique apiserver_port per worker in config.yaml).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Flashing is via rshim, not Redfish. </a:t>
            </a:r>
            <a:r>
              <a:rPr sz="1600" b="0">
                <a:solidFill>
                  <a:srgbClr val="E9EEF5"/>
                </a:solidFill>
                <a:latin typeface="Calibri"/>
              </a:rPr>
              <a:t>The OS flash goes through the x86 host's PCIe rshim (--rshim-install), so the x86 host must be reachable with a working rshim. Redfish works only for a genuine BFB version change; S4 was already on the target version, so rshim was required.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Fresh-flash first boot = 2 console commands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password + systemctl start dpf-firstboot-kick; later boots hands-off.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Data plane is CPU-routed today</a:t>
            </a:r>
            <a:r>
              <a:rPr sz="1600" b="0">
                <a:solidFill>
                  <a:srgbClr val="E9EEF5"/>
                </a:solidFill>
                <a:latin typeface="Calibri"/>
              </a:rPr>
              <a:t> — fine for config/feature work; eswitch offload arrives with the DPUService migration (roadmap).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13 · YOUR WORKFLOW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Day-to-day for the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Provision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bringup_dpf.sh → BF3 flashed, joined, HBN running. Follow QUICKSTART.md.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Operate FRR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Your UI / NVUE / REST manages routing on the FRR interfaces — the primary path.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18704" y="1920240"/>
            <a:ext cx="3383280" cy="1737360"/>
          </a:xfrm>
          <a:prstGeom prst="roundRect">
            <a:avLst/>
          </a:prstGeom>
          <a:solidFill>
            <a:srgbClr val="141B27"/>
          </a:solidFill>
          <a:ln w="12700">
            <a:solidFill>
              <a:srgbClr val="27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 bIns="73152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B57DE"/>
                </a:solidFill>
                <a:latin typeface="Calibri"/>
              </a:rPr>
              <a:t>Debug</a:t>
            </a:r>
          </a:p>
          <a:p>
            <a:r>
              <a:rPr sz="1200">
                <a:solidFill>
                  <a:srgbClr val="93A1B3"/>
                </a:solidFill>
                <a:latin typeface="Calibri"/>
              </a:rPr>
              <a:t>kubectl exec → vtysh, pod logs, status_dpf.sh. See CHEATSHEET.md.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Fleet model: </a:t>
            </a:r>
            <a:r>
              <a:rPr sz="1600" b="0">
                <a:solidFill>
                  <a:srgbClr val="E9EEF5"/>
                </a:solidFill>
                <a:latin typeface="Calibri"/>
              </a:rPr>
              <a:t>one DPF VM, many BF3 nodes — provision and inspect them all from one place.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9B57DE"/>
                </a:solidFill>
                <a:latin typeface="Calibri"/>
              </a:rPr>
              <a:t>▪  </a:t>
            </a:r>
            <a:r>
              <a:rPr sz="1600" b="1">
                <a:solidFill>
                  <a:srgbClr val="E9EEF5"/>
                </a:solidFill>
                <a:latin typeface="Calibri"/>
              </a:rPr>
              <a:t>First bringup of a new server: </a:t>
            </a:r>
            <a:r>
              <a:rPr sz="1600" b="0">
                <a:solidFill>
                  <a:srgbClr val="E9EEF5"/>
                </a:solidFill>
                <a:latin typeface="Calibri"/>
              </a:rPr>
              <a:t>do it with support on hand (BMC behavior varies per box).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viz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6" y="384048"/>
            <a:ext cx="1417320" cy="3448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3A1B3"/>
                </a:solidFill>
                <a:latin typeface="Calibri"/>
              </a:rPr>
              <a:t>Aviz Networks   ·   DPF + HBN on BlueField-3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5488"/>
            <a:ext cx="54864" cy="201168"/>
          </a:xfrm>
          <a:prstGeom prst="rect">
            <a:avLst/>
          </a:prstGeom>
          <a:solidFill>
            <a:srgbClr val="9B5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B57DE"/>
                </a:solidFill>
                <a:latin typeface="Calibri"/>
              </a:rPr>
              <a:t>14 · REFERENCES 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7724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9EEF5"/>
                </a:solidFill>
                <a:latin typeface="Calibri"/>
              </a:rPr>
              <a:t>Where everything lives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20240"/>
          <a:ext cx="8686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3A1B3"/>
                          </a:solidFill>
                          <a:latin typeface="Calibri"/>
                        </a:rPr>
                        <a:t>Doc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93A1B3"/>
                          </a:solidFill>
                          <a:latin typeface="Calibri"/>
                        </a:rPr>
                        <a:t>Use it for</a:t>
                      </a:r>
                    </a:p>
                  </a:txBody>
                  <a:tcPr marL="73152" marR="54864" marT="36576" marB="36576" anchor="t">
                    <a:solidFill>
                      <a:srgbClr val="1A22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dpf/QUICKSTART.md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Run it — linear bringup steps + first-boot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dpf/CHEATSHEET.md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Operate it — pods/nodes/HBN/vtysh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9C5CF"/>
                          </a:solidFill>
                          <a:latin typeface="Consolas"/>
                        </a:rPr>
                        <a:t>dpf/README.md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EF5"/>
                          </a:solidFill>
                          <a:latin typeface="Calibri"/>
                        </a:rPr>
                        <a:t>Understand it — architecture + every known issue</a:t>
                      </a:r>
                    </a:p>
                  </a:txBody>
                  <a:tcPr marL="73152" marR="54864" marT="36576" marB="36576" anchor="t">
                    <a:solidFill>
                      <a:srgbClr val="141B2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663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9B57DE"/>
                </a:solidFill>
                <a:latin typeface="Calibri"/>
              </a:rPr>
              <a:t>Questions? →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