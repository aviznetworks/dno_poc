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v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685800"/>
            <a:ext cx="2743200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20116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4800" b="1">
                <a:solidFill>
                  <a:srgbClr val="E9EEF5"/>
                </a:solidFill>
                <a:latin typeface="Calibri"/>
              </a:rPr>
              <a:t>DPF + HBN on </a:t>
            </a:r>
            <a:r>
              <a:rPr sz="4800" b="1">
                <a:solidFill>
                  <a:srgbClr val="9B57DE"/>
                </a:solidFill>
                <a:latin typeface="Calibri"/>
              </a:rPr>
              <a:t>BlueField-3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2000" b="0">
                <a:solidFill>
                  <a:srgbClr val="93A1B3"/>
                </a:solidFill>
                <a:latin typeface="Calibri"/>
              </a:rPr>
              <a:t>Provisioning and operating DPUs the Kubernetes way — flash, join, deploy HBN, and drive FRR from one control point.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6634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93A1B3"/>
                </a:solidFill>
                <a:latin typeface="Calibri"/>
              </a:rPr>
              <a:t>Multi-DPU validated (S4 + S2 simultaneously)  ·  DOCA v25.10.1  ·  run it with </a:t>
            </a:r>
            <a:r>
              <a:rPr sz="1500" b="1">
                <a:solidFill>
                  <a:srgbClr val="E9EEF5"/>
                </a:solidFill>
                <a:latin typeface="Calibri"/>
              </a:rPr>
              <a:t>dpf/QUICKSTART.md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v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6" y="384048"/>
            <a:ext cx="1417320" cy="34488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38251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3A1B3"/>
                </a:solidFill>
                <a:latin typeface="Calibri"/>
              </a:rPr>
              <a:t>Aviz Networks   ·   DPF + HBN on BlueField-3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75488"/>
            <a:ext cx="54864" cy="201168"/>
          </a:xfrm>
          <a:prstGeom prst="rect">
            <a:avLst/>
          </a:prstGeom>
          <a:solidFill>
            <a:srgbClr val="9B5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9B57DE"/>
                </a:solidFill>
                <a:latin typeface="Calibri"/>
              </a:rPr>
              <a:t>1 · THE IDEA 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E9EEF5"/>
                </a:solidFill>
                <a:latin typeface="Calibri"/>
              </a:rPr>
              <a:t>What is DPF?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E9EEF5"/>
                </a:solidFill>
                <a:latin typeface="Calibri"/>
              </a:rPr>
              <a:t>DPF = DOCA Platform Framework</a:t>
            </a:r>
            <a:r>
              <a:rPr sz="1800" b="0">
                <a:solidFill>
                  <a:srgbClr val="93A1B3"/>
                </a:solidFill>
                <a:latin typeface="Calibri"/>
              </a:rPr>
              <a:t>  (NVIDIA). Kubernetes-native lifecycle management for BlueField-3 DPUs.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105156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700" b="1">
                <a:solidFill>
                  <a:srgbClr val="9B57DE"/>
                </a:solidFill>
                <a:latin typeface="Calibri"/>
              </a:rPr>
              <a:t>▪  </a:t>
            </a:r>
            <a:r>
              <a:rPr sz="1700" b="0">
                <a:solidFill>
                  <a:srgbClr val="E9EEF5"/>
                </a:solidFill>
                <a:latin typeface="Calibri"/>
              </a:rPr>
              <a:t>You </a:t>
            </a:r>
            <a:r>
              <a:rPr sz="1700" b="1">
                <a:solidFill>
                  <a:srgbClr val="E9EEF5"/>
                </a:solidFill>
                <a:latin typeface="Calibri"/>
              </a:rPr>
              <a:t>declare the desired state</a:t>
            </a:r>
            <a:r>
              <a:rPr sz="1700" b="0">
                <a:solidFill>
                  <a:srgbClr val="E9EEF5"/>
                </a:solidFill>
                <a:latin typeface="Calibri"/>
              </a:rPr>
              <a:t> (which OS image, which cluster, which workloads) as Kubernetes objects.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700" b="1">
                <a:solidFill>
                  <a:srgbClr val="9B57DE"/>
                </a:solidFill>
                <a:latin typeface="Calibri"/>
              </a:rPr>
              <a:t>▪  </a:t>
            </a:r>
            <a:r>
              <a:rPr sz="1700" b="0">
                <a:solidFill>
                  <a:srgbClr val="E9EEF5"/>
                </a:solidFill>
                <a:latin typeface="Calibri"/>
              </a:rPr>
              <a:t>DPF </a:t>
            </a:r>
            <a:r>
              <a:rPr sz="1700" b="1">
                <a:solidFill>
                  <a:srgbClr val="E9EEF5"/>
                </a:solidFill>
                <a:latin typeface="Calibri"/>
              </a:rPr>
              <a:t>makes it happen</a:t>
            </a:r>
            <a:r>
              <a:rPr sz="1700" b="0">
                <a:solidFill>
                  <a:srgbClr val="E9EEF5"/>
                </a:solidFill>
                <a:latin typeface="Calibri"/>
              </a:rPr>
              <a:t>: flashes the BFB → boots the BF3 → joins it to a cluster → deploys services (HBN) onto it.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9B57DE"/>
                </a:solidFill>
                <a:latin typeface="Calibri"/>
              </a:rPr>
              <a:t>▪  </a:t>
            </a:r>
            <a:r>
              <a:rPr sz="1700" b="1">
                <a:solidFill>
                  <a:srgbClr val="E9EEF5"/>
                </a:solidFill>
                <a:latin typeface="Calibri"/>
              </a:rPr>
              <a:t>One control point for many DPUs</a:t>
            </a:r>
            <a:r>
              <a:rPr sz="1700" b="0">
                <a:solidFill>
                  <a:srgbClr val="E9EEF5"/>
                </a:solidFill>
                <a:latin typeface="Calibri"/>
              </a:rPr>
              <a:t> — no SSH to each box. The same kubectl drives 1 or 100.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v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6" y="384048"/>
            <a:ext cx="1417320" cy="34488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38251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3A1B3"/>
                </a:solidFill>
                <a:latin typeface="Calibri"/>
              </a:rPr>
              <a:t>Aviz Networks   ·   DPF + HBN on BlueField-3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75488"/>
            <a:ext cx="54864" cy="201168"/>
          </a:xfrm>
          <a:prstGeom prst="rect">
            <a:avLst/>
          </a:prstGeom>
          <a:solidFill>
            <a:srgbClr val="9B5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9B57DE"/>
                </a:solidFill>
                <a:latin typeface="Calibri"/>
              </a:rPr>
              <a:t>2 · FOUNDATION 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E9EEF5"/>
                </a:solidFill>
                <a:latin typeface="Calibri"/>
              </a:rPr>
              <a:t>Kubernetes in 60 seconds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5486400" cy="960120"/>
          </a:xfrm>
          <a:prstGeom prst="roundRect">
            <a:avLst/>
          </a:prstGeom>
          <a:solidFill>
            <a:srgbClr val="141B27"/>
          </a:solidFill>
          <a:ln w="25400">
            <a:solidFill>
              <a:srgbClr val="A37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bIns="36576"/>
          <a:lstStyle/>
          <a:p>
            <a:pPr algn="ctr"/>
            <a:r>
              <a:rPr sz="1300" b="1">
                <a:solidFill>
                  <a:srgbClr val="A371F7"/>
                </a:solidFill>
                <a:latin typeface="Calibri"/>
              </a:rPr>
              <a:t>CLUSTER</a:t>
            </a:r>
          </a:p>
          <a:p>
            <a:r>
              <a:rPr sz="1100">
                <a:solidFill>
                  <a:srgbClr val="93A1B3"/>
                </a:solidFill>
                <a:latin typeface="Calibri"/>
              </a:rPr>
              <a:t>control plane (API + scheduler + etcd) that runs &amp; tracks everything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0160" y="2907792"/>
            <a:ext cx="5029200" cy="960120"/>
          </a:xfrm>
          <a:prstGeom prst="roundRect">
            <a:avLst/>
          </a:prstGeom>
          <a:solidFill>
            <a:srgbClr val="141B27"/>
          </a:solidFill>
          <a:ln w="254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bIns="36576"/>
          <a:lstStyle/>
          <a:p>
            <a:pPr algn="ctr"/>
            <a:r>
              <a:rPr sz="1300" b="1">
                <a:solidFill>
                  <a:srgbClr val="3FB950"/>
                </a:solidFill>
                <a:latin typeface="Calibri"/>
              </a:rPr>
              <a:t>NODE</a:t>
            </a:r>
          </a:p>
          <a:p>
            <a:r>
              <a:rPr sz="1100">
                <a:solidFill>
                  <a:srgbClr val="93A1B3"/>
                </a:solidFill>
                <a:latin typeface="Calibri"/>
              </a:rPr>
              <a:t>a machine running kubelet that workloads land 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37360" y="3986784"/>
            <a:ext cx="4572000" cy="960120"/>
          </a:xfrm>
          <a:prstGeom prst="roundRect">
            <a:avLst/>
          </a:prstGeom>
          <a:solidFill>
            <a:srgbClr val="141B27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bIns="36576"/>
          <a:lstStyle/>
          <a:p>
            <a:pPr algn="ctr"/>
            <a:r>
              <a:rPr sz="1300" b="1">
                <a:solidFill>
                  <a:srgbClr val="58A6FF"/>
                </a:solidFill>
                <a:latin typeface="Calibri"/>
              </a:rPr>
              <a:t>POD</a:t>
            </a:r>
          </a:p>
          <a:p>
            <a:r>
              <a:rPr sz="1100">
                <a:solidFill>
                  <a:srgbClr val="93A1B3"/>
                </a:solidFill>
                <a:latin typeface="Calibri"/>
              </a:rPr>
              <a:t>1+ containers sharing one network identity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94560" y="5065776"/>
            <a:ext cx="4114800" cy="960120"/>
          </a:xfrm>
          <a:prstGeom prst="roundRect">
            <a:avLst/>
          </a:prstGeom>
          <a:solidFill>
            <a:srgbClr val="141B27"/>
          </a:solidFill>
          <a:ln w="25400">
            <a:solidFill>
              <a:srgbClr val="F08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bIns="36576"/>
          <a:lstStyle/>
          <a:p>
            <a:pPr algn="ctr"/>
            <a:r>
              <a:rPr sz="1300" b="1">
                <a:solidFill>
                  <a:srgbClr val="F0883E"/>
                </a:solidFill>
                <a:latin typeface="Calibri"/>
              </a:rPr>
              <a:t>CONTAINER</a:t>
            </a:r>
          </a:p>
          <a:p>
            <a:r>
              <a:rPr sz="1100">
                <a:solidFill>
                  <a:srgbClr val="93A1B3"/>
                </a:solidFill>
                <a:latin typeface="Calibri"/>
              </a:rPr>
              <a:t>a process isolated by Linux namespaces + cgroups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828800"/>
            <a:ext cx="4572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9B57DE"/>
                </a:solidFill>
                <a:latin typeface="Calibri"/>
              </a:rPr>
              <a:t>▪  </a:t>
            </a:r>
            <a:r>
              <a:rPr sz="1500" b="1">
                <a:solidFill>
                  <a:srgbClr val="E9EEF5"/>
                </a:solidFill>
                <a:latin typeface="Calibri"/>
              </a:rPr>
              <a:t>Declarative: </a:t>
            </a:r>
            <a:r>
              <a:rPr sz="1500" b="0">
                <a:solidFill>
                  <a:srgbClr val="E9EEF5"/>
                </a:solidFill>
                <a:latin typeface="Calibri"/>
              </a:rPr>
              <a:t>you describe the end state; controllers reconcile to it.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9B57DE"/>
                </a:solidFill>
                <a:latin typeface="Calibri"/>
              </a:rPr>
              <a:t>▪  </a:t>
            </a:r>
            <a:r>
              <a:rPr sz="1500" b="1">
                <a:solidFill>
                  <a:srgbClr val="E9EEF5"/>
                </a:solidFill>
                <a:latin typeface="Calibri"/>
              </a:rPr>
              <a:t>kubectl </a:t>
            </a:r>
            <a:r>
              <a:rPr sz="1500" b="0">
                <a:solidFill>
                  <a:srgbClr val="E9EEF5"/>
                </a:solidFill>
                <a:latin typeface="Calibri"/>
              </a:rPr>
              <a:t>is the remote control — talks to the cluster API, not the machines.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9B57DE"/>
                </a:solidFill>
                <a:latin typeface="Calibri"/>
              </a:rPr>
              <a:t>▪  </a:t>
            </a:r>
            <a:r>
              <a:rPr sz="1500" b="1">
                <a:solidFill>
                  <a:srgbClr val="E9EEF5"/>
                </a:solidFill>
                <a:latin typeface="Calibri"/>
              </a:rPr>
              <a:t>DaemonSet</a:t>
            </a:r>
            <a:r>
              <a:rPr sz="1500" b="0">
                <a:solidFill>
                  <a:srgbClr val="E9EEF5"/>
                </a:solidFill>
                <a:latin typeface="Calibri"/>
              </a:rPr>
              <a:t> = “one pod on every node” → deploy once, runs fleet-wide.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3A1B3"/>
                </a:solidFill>
                <a:latin typeface="Calibri"/>
              </a:rPr>
              <a:t>DPF builds on these primitives — the BF3 becomes a node, HBN becomes a pod.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v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6" y="384048"/>
            <a:ext cx="1417320" cy="34488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38251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3A1B3"/>
                </a:solidFill>
                <a:latin typeface="Calibri"/>
              </a:rPr>
              <a:t>Aviz Networks   ·   DPF + HBN on BlueField-3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75488"/>
            <a:ext cx="54864" cy="201168"/>
          </a:xfrm>
          <a:prstGeom prst="rect">
            <a:avLst/>
          </a:prstGeom>
          <a:solidFill>
            <a:srgbClr val="9B5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9B57DE"/>
                </a:solidFill>
                <a:latin typeface="Calibri"/>
              </a:rPr>
              <a:t>3 · NVIDIA'S BUILDING BLOCKS 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E9EEF5"/>
                </a:solidFill>
                <a:latin typeface="Calibri"/>
              </a:rPr>
              <a:t>What NVIDIA built for DPF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93A1B3"/>
                </a:solidFill>
                <a:latin typeface="Calibri"/>
              </a:rPr>
              <a:t>The DPF Operator + sub-controllers (provisioning · dpuservice · kamaji-cm · servicechainset), driven by custom resources you declare: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06040"/>
            <a:ext cx="3383280" cy="1554480"/>
          </a:xfrm>
          <a:prstGeom prst="roundRect">
            <a:avLst/>
          </a:prstGeom>
          <a:solidFill>
            <a:srgbClr val="141B27"/>
          </a:solidFill>
          <a:ln w="12700">
            <a:solidFill>
              <a:srgbClr val="2731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A371F7"/>
                </a:solidFill>
                <a:latin typeface="Calibri"/>
              </a:rPr>
              <a:t>DPFOperatorConfig</a:t>
            </a:r>
          </a:p>
          <a:p>
            <a:r>
              <a:rPr sz="1200">
                <a:solidFill>
                  <a:srgbClr val="93A1B3"/>
                </a:solidFill>
                <a:latin typeface="Calibri"/>
              </a:rPr>
              <a:t>Bootstraps the whole system on the DPF VM.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2606040"/>
            <a:ext cx="3383280" cy="1554480"/>
          </a:xfrm>
          <a:prstGeom prst="roundRect">
            <a:avLst/>
          </a:prstGeom>
          <a:solidFill>
            <a:srgbClr val="141B27"/>
          </a:solidFill>
          <a:ln w="12700">
            <a:solidFill>
              <a:srgbClr val="2731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3B341"/>
                </a:solidFill>
                <a:latin typeface="Calibri"/>
              </a:rPr>
              <a:t>BFB</a:t>
            </a:r>
          </a:p>
          <a:p>
            <a:r>
              <a:rPr sz="1200">
                <a:solidFill>
                  <a:srgbClr val="93A1B3"/>
                </a:solidFill>
                <a:latin typeface="Calibri"/>
              </a:rPr>
              <a:t>The DPU OS image (DOCA bf-bundle) served to the BF3.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18704" y="2606040"/>
            <a:ext cx="3383280" cy="1554480"/>
          </a:xfrm>
          <a:prstGeom prst="roundRect">
            <a:avLst/>
          </a:prstGeom>
          <a:solidFill>
            <a:srgbClr val="141B27"/>
          </a:solidFill>
          <a:ln w="12700">
            <a:solidFill>
              <a:srgbClr val="2731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0883E"/>
                </a:solidFill>
                <a:latin typeface="Calibri"/>
              </a:rPr>
              <a:t>DPUFlavor</a:t>
            </a:r>
          </a:p>
          <a:p>
            <a:r>
              <a:rPr sz="1200">
                <a:solidFill>
                  <a:srgbClr val="93A1B3"/>
                </a:solidFill>
                <a:latin typeface="Calibri"/>
              </a:rPr>
              <a:t>How to flash: NIC firmware, hugepages, SubFunctions, config files.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361688"/>
            <a:ext cx="3383280" cy="1554480"/>
          </a:xfrm>
          <a:prstGeom prst="roundRect">
            <a:avLst/>
          </a:prstGeom>
          <a:solidFill>
            <a:srgbClr val="141B27"/>
          </a:solidFill>
          <a:ln w="12700">
            <a:solidFill>
              <a:srgbClr val="2731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A371F7"/>
                </a:solidFill>
                <a:latin typeface="Calibri"/>
              </a:rPr>
              <a:t>DPUCluster</a:t>
            </a:r>
          </a:p>
          <a:p>
            <a:r>
              <a:rPr sz="1200">
                <a:solidFill>
                  <a:srgbClr val="93A1B3"/>
                </a:solidFill>
                <a:latin typeface="Calibri"/>
              </a:rPr>
              <a:t>A per-DPU virtual k8s control plane, run by Kamaji as pods on the DPF VM.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4361688"/>
            <a:ext cx="3383280" cy="1554480"/>
          </a:xfrm>
          <a:prstGeom prst="roundRect">
            <a:avLst/>
          </a:prstGeom>
          <a:solidFill>
            <a:srgbClr val="141B27"/>
          </a:solidFill>
          <a:ln w="12700">
            <a:solidFill>
              <a:srgbClr val="2731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3FB950"/>
                </a:solidFill>
                <a:latin typeface="Calibri"/>
              </a:rPr>
              <a:t>DPU / DPUNode / DPUDevice</a:t>
            </a:r>
          </a:p>
          <a:p>
            <a:r>
              <a:rPr sz="1200">
                <a:solidFill>
                  <a:srgbClr val="93A1B3"/>
                </a:solidFill>
                <a:latin typeface="Calibri"/>
              </a:rPr>
              <a:t>The physical BF3 being provisioned and tracked.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18704" y="4361688"/>
            <a:ext cx="3383280" cy="1554480"/>
          </a:xfrm>
          <a:prstGeom prst="roundRect">
            <a:avLst/>
          </a:prstGeom>
          <a:solidFill>
            <a:srgbClr val="141B27"/>
          </a:solidFill>
          <a:ln w="12700">
            <a:solidFill>
              <a:srgbClr val="2731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58A6FF"/>
                </a:solidFill>
                <a:latin typeface="Calibri"/>
              </a:rPr>
              <a:t>DPUService</a:t>
            </a:r>
          </a:p>
          <a:p>
            <a:r>
              <a:rPr sz="1200">
                <a:solidFill>
                  <a:srgbClr val="93A1B3"/>
                </a:solidFill>
                <a:latin typeface="Calibri"/>
              </a:rPr>
              <a:t>Workloads pushed onto DPUs — CNI, and HBN.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v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6" y="384048"/>
            <a:ext cx="1417320" cy="34488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38251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3A1B3"/>
                </a:solidFill>
                <a:latin typeface="Calibri"/>
              </a:rPr>
              <a:t>Aviz Networks   ·   DPF + HBN on BlueField-3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75488"/>
            <a:ext cx="54864" cy="201168"/>
          </a:xfrm>
          <a:prstGeom prst="rect">
            <a:avLst/>
          </a:prstGeom>
          <a:solidFill>
            <a:srgbClr val="9B5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9B57DE"/>
                </a:solidFill>
                <a:latin typeface="Calibri"/>
              </a:rPr>
              <a:t>4 · TOPOLOGY 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E9EEF5"/>
                </a:solidFill>
                <a:latin typeface="Calibri"/>
              </a:rPr>
              <a:t>Our setup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10515600" cy="3383280"/>
          </a:xfrm>
          <a:prstGeom prst="roundRect">
            <a:avLst/>
          </a:prstGeom>
          <a:solidFill>
            <a:srgbClr val="070A10"/>
          </a:solidFill>
          <a:ln w="9525">
            <a:solidFill>
              <a:srgbClr val="9B5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09728" tIns="109728" bIns="109728"/>
          <a:lstStyle/>
          <a:p>
            <a:pPr algn="ctr">
              <a:lnSpc>
                <a:spcPct val="115000"/>
              </a:lnSpc>
              <a:spcAft>
                <a:spcPts val="100"/>
              </a:spcAft>
            </a:pPr>
            <a:r>
              <a:rPr sz="1300">
                <a:solidFill>
                  <a:srgbClr val="9B57DE"/>
                </a:solidFill>
                <a:latin typeface="Consolas"/>
              </a:rPr>
              <a:t>DPF Operator VM</a:t>
            </a:r>
            <a:r>
              <a:rPr sz="1300">
                <a:solidFill>
                  <a:srgbClr val="CDD9E5"/>
                </a:solidFill>
                <a:latin typeface="Consolas"/>
              </a:rPr>
              <a:t>  (S5 · 10.4.5.136)            </a:t>
            </a:r>
            <a:r>
              <a:rPr sz="1300">
                <a:solidFill>
                  <a:srgbClr val="93A1B3"/>
                </a:solidFill>
                <a:latin typeface="Consolas"/>
              </a:rPr>
              <a:t># the control plane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300">
                <a:solidFill>
                  <a:srgbClr val="CDD9E5"/>
                </a:solidFill>
                <a:latin typeface="Consolas"/>
              </a:rPr>
              <a:t>  k3s · DPF Operator v25.10.1 · Kamaji · ArgoCD · bfb-registry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300">
                <a:solidFill>
                  <a:srgbClr val="CDD9E5"/>
                </a:solidFill>
                <a:latin typeface="Consolas"/>
              </a:rPr>
              <a:t>        │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300">
                <a:solidFill>
                  <a:srgbClr val="CDD9E5"/>
                </a:solidFill>
                <a:latin typeface="Consolas"/>
              </a:rPr>
              <a:t>        │  flash BFB  (rshim via x86 host, or Redfish)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300">
                <a:solidFill>
                  <a:srgbClr val="CDD9E5"/>
                </a:solidFill>
                <a:latin typeface="Consolas"/>
              </a:rPr>
              <a:t>        │  Kamaji virtual control plane  ◄── BF3 kubelet joins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300">
                <a:solidFill>
                  <a:srgbClr val="CDD9E5"/>
                </a:solidFill>
                <a:latin typeface="Consolas"/>
              </a:rPr>
              <a:t>        ▼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300">
                <a:solidFill>
                  <a:srgbClr val="9B57DE"/>
                </a:solidFill>
                <a:latin typeface="Consolas"/>
              </a:rPr>
              <a:t>BF3 #1 (S4)</a:t>
            </a:r>
            <a:r>
              <a:rPr sz="1300">
                <a:solidFill>
                  <a:srgbClr val="CDD9E5"/>
                </a:solidFill>
                <a:latin typeface="Consolas"/>
              </a:rPr>
              <a:t>  worker1 · apiserver :6443        </a:t>
            </a:r>
            <a:r>
              <a:rPr sz="1300">
                <a:solidFill>
                  <a:srgbClr val="93A1B3"/>
                </a:solidFill>
                <a:latin typeface="Consolas"/>
              </a:rPr>
              <a:t># one operator,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300">
                <a:solidFill>
                  <a:srgbClr val="9B57DE"/>
                </a:solidFill>
                <a:latin typeface="Consolas"/>
              </a:rPr>
              <a:t>BF3 #2 (S2)</a:t>
            </a:r>
            <a:r>
              <a:rPr sz="1300">
                <a:solidFill>
                  <a:srgbClr val="CDD9E5"/>
                </a:solidFill>
                <a:latin typeface="Consolas"/>
              </a:rPr>
              <a:t>  worker2 · apiserver :6444        </a:t>
            </a:r>
            <a:r>
              <a:rPr sz="1300">
                <a:solidFill>
                  <a:srgbClr val="93A1B3"/>
                </a:solidFill>
                <a:latin typeface="Consolas"/>
              </a:rPr>
              <a:t># many DPUs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300">
                <a:solidFill>
                  <a:srgbClr val="CDD9E5"/>
                </a:solidFill>
                <a:latin typeface="Consolas"/>
              </a:rPr>
              <a:t>   each BF3 = a Kubernetes WORKER node → runs HBN (FRR) as a pod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300">
                <a:solidFill>
                  <a:srgbClr val="CDD9E5"/>
                </a:solidFill>
                <a:latin typeface="Consolas"/>
              </a:rPr>
              <a:t>        │  PCIe (each BF3 sits in its own x86 host)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300">
                <a:solidFill>
                  <a:srgbClr val="CDD9E5"/>
                </a:solidFill>
                <a:latin typeface="Consolas"/>
              </a:rPr>
              <a:t>        ▼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300">
                <a:solidFill>
                  <a:srgbClr val="9B57DE"/>
                </a:solidFill>
                <a:latin typeface="Consolas"/>
              </a:rPr>
              <a:t>x86 hosts</a:t>
            </a:r>
            <a:r>
              <a:rPr sz="1300">
                <a:solidFill>
                  <a:srgbClr val="CDD9E5"/>
                </a:solidFill>
                <a:latin typeface="Consolas"/>
              </a:rPr>
              <a:t>  (S4 → 10.20.13.226 · S2 → 10.20.13.12)  </a:t>
            </a:r>
            <a:r>
              <a:rPr sz="1300">
                <a:solidFill>
                  <a:srgbClr val="93A1B3"/>
                </a:solidFill>
                <a:latin typeface="Consolas"/>
              </a:rPr>
              <a:t># NOT in k8s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300">
                <a:solidFill>
                  <a:srgbClr val="CDD9E5"/>
                </a:solidFill>
                <a:latin typeface="Consolas"/>
              </a:rPr>
              <a:t>   per host: BF3 rshim (flash) · SR-IOV VFs vf0..vf7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3492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93A1B3"/>
                </a:solidFill>
                <a:latin typeface="Calibri"/>
              </a:rPr>
              <a:t>Subnet note: in this lab, TCP 10.20.13.x → 10.4.5.x is blocked → a small SSH tunnel bridges the BF3's join. Same-subnet setups skip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v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6" y="384048"/>
            <a:ext cx="1417320" cy="34488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38251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3A1B3"/>
                </a:solidFill>
                <a:latin typeface="Calibri"/>
              </a:rPr>
              <a:t>Aviz Networks   ·   DPF + HBN on BlueField-3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75488"/>
            <a:ext cx="54864" cy="201168"/>
          </a:xfrm>
          <a:prstGeom prst="rect">
            <a:avLst/>
          </a:prstGeom>
          <a:solidFill>
            <a:srgbClr val="9B5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9B57DE"/>
                </a:solidFill>
                <a:latin typeface="Calibri"/>
              </a:rPr>
              <a:t>5 · WHO DOES WHAT 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E9EEF5"/>
                </a:solidFill>
                <a:latin typeface="Calibri"/>
              </a:rPr>
              <a:t>DPF VM ↔ BF3 ↔ host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828800"/>
          <a:ext cx="10515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743200"/>
                <a:gridCol w="5577840"/>
              </a:tblGrid>
              <a:tr h="6858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9EEF5"/>
                          </a:solidFill>
                          <a:latin typeface="Calibri"/>
                        </a:rPr>
                        <a:t>Box</a:t>
                      </a:r>
                    </a:p>
                  </a:txBody>
                  <a:tcPr marL="73152" marR="54864" marT="36576" marB="36576" anchor="t"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9EEF5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73152" marR="54864" marT="36576" marB="36576" anchor="t"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9EEF5"/>
                          </a:solidFill>
                          <a:latin typeface="Calibri"/>
                        </a:rPr>
                        <a:t>Runs</a:t>
                      </a:r>
                    </a:p>
                  </a:txBody>
                  <a:tcPr marL="73152" marR="54864" marT="36576" marB="36576" anchor="t">
                    <a:solidFill>
                      <a:srgbClr val="1A223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9EEF5"/>
                          </a:solidFill>
                          <a:latin typeface="Calibri"/>
                        </a:rPr>
                        <a:t>DPF VM
10.4.5.136</a:t>
                      </a:r>
                    </a:p>
                  </a:txBody>
                  <a:tcPr marL="73152" marR="54864" marT="36576" marB="36576" anchor="t">
                    <a:solidFill>
                      <a:srgbClr val="141B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9EEF5"/>
                          </a:solidFill>
                          <a:latin typeface="Calibri"/>
                        </a:rPr>
                        <a:t>Control plane / operator</a:t>
                      </a:r>
                    </a:p>
                  </a:txBody>
                  <a:tcPr marL="73152" marR="54864" marT="36576" marB="36576" anchor="t">
                    <a:solidFill>
                      <a:srgbClr val="141B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9EEF5"/>
                          </a:solidFill>
                          <a:latin typeface="Calibri"/>
                        </a:rPr>
                        <a:t>k3s, DPF Operator, Kamaji (DPU control planes), ArgoCD, bfb-registry, kubectl</a:t>
                      </a:r>
                    </a:p>
                  </a:txBody>
                  <a:tcPr marL="73152" marR="54864" marT="36576" marB="36576" anchor="t">
                    <a:solidFill>
                      <a:srgbClr val="141B2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9EEF5"/>
                          </a:solidFill>
                          <a:latin typeface="Calibri"/>
                        </a:rPr>
                        <a:t>BF3
s4-dpu</a:t>
                      </a:r>
                    </a:p>
                  </a:txBody>
                  <a:tcPr marL="73152" marR="54864" marT="36576" marB="36576" anchor="t">
                    <a:solidFill>
                      <a:srgbClr val="141B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9EEF5"/>
                          </a:solidFill>
                          <a:latin typeface="Calibri"/>
                        </a:rPr>
                        <a:t>k8s worker node</a:t>
                      </a:r>
                    </a:p>
                  </a:txBody>
                  <a:tcPr marL="73152" marR="54864" marT="36576" marB="36576" anchor="t">
                    <a:solidFill>
                      <a:srgbClr val="141B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9EEF5"/>
                          </a:solidFill>
                          <a:latin typeface="Calibri"/>
                        </a:rPr>
                        <a:t>kubelet + crictl (no kubectl); the doca-hbn pod = FRR/zebra/NVUE; CNI pods</a:t>
                      </a:r>
                    </a:p>
                  </a:txBody>
                  <a:tcPr marL="73152" marR="54864" marT="36576" marB="36576" anchor="t">
                    <a:solidFill>
                      <a:srgbClr val="141B2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9EEF5"/>
                          </a:solidFill>
                          <a:latin typeface="Calibri"/>
                        </a:rPr>
                        <a:t>x86 host
10.20.13.226</a:t>
                      </a:r>
                    </a:p>
                  </a:txBody>
                  <a:tcPr marL="73152" marR="54864" marT="36576" marB="36576" anchor="t">
                    <a:solidFill>
                      <a:srgbClr val="141B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9EEF5"/>
                          </a:solidFill>
                          <a:latin typeface="Calibri"/>
                        </a:rPr>
                        <a:t>Not in k8s</a:t>
                      </a:r>
                    </a:p>
                  </a:txBody>
                  <a:tcPr marL="73152" marR="54864" marT="36576" marB="36576" anchor="t">
                    <a:solidFill>
                      <a:srgbClr val="141B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E9EEF5"/>
                          </a:solidFill>
                          <a:latin typeface="Calibri"/>
                        </a:rPr>
                        <a:t>BF3 PCIe rshim (OS flash) + SR-IOV VFs vf0..vf7</a:t>
                      </a:r>
                    </a:p>
                  </a:txBody>
                  <a:tcPr marL="73152" marR="54864" marT="36576" marB="36576" anchor="t">
                    <a:solidFill>
                      <a:srgbClr val="141B2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5029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93A1B3"/>
                </a:solidFill>
                <a:latin typeface="Calibri"/>
              </a:rPr>
              <a:t>Key point: the x86 host never joins Kubernetes — only the BF3 ARM does.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v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6" y="384048"/>
            <a:ext cx="1417320" cy="34488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38251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3A1B3"/>
                </a:solidFill>
                <a:latin typeface="Calibri"/>
              </a:rPr>
              <a:t>Aviz Networks   ·   DPF + HBN on BlueField-3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75488"/>
            <a:ext cx="54864" cy="201168"/>
          </a:xfrm>
          <a:prstGeom prst="rect">
            <a:avLst/>
          </a:prstGeom>
          <a:solidFill>
            <a:srgbClr val="9B5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9B57DE"/>
                </a:solidFill>
                <a:latin typeface="Calibri"/>
              </a:rPr>
              <a:t>6 · THE BRINGUP 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E9EEF5"/>
                </a:solidFill>
                <a:latin typeface="Calibri"/>
              </a:rPr>
              <a:t>How a BF3 comes 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103120"/>
            <a:ext cx="1993392" cy="2011680"/>
          </a:xfrm>
          <a:prstGeom prst="roundRect">
            <a:avLst/>
          </a:prstGeom>
          <a:solidFill>
            <a:srgbClr val="141B27"/>
          </a:solidFill>
          <a:ln w="12700">
            <a:solidFill>
              <a:srgbClr val="2731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9B57DE"/>
                </a:solidFill>
                <a:latin typeface="Consolas"/>
              </a:rPr>
              <a:t>1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E9EEF5"/>
                </a:solidFill>
                <a:latin typeface="Calibri"/>
              </a:rPr>
              <a:t>Stage BFB</a:t>
            </a:r>
          </a:p>
          <a:p>
            <a:r>
              <a:rPr sz="1150">
                <a:solidFill>
                  <a:srgbClr val="93A1B3"/>
                </a:solidFill>
                <a:latin typeface="Calibri"/>
              </a:rPr>
              <a:t>copy the image to the DPF VM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53512" y="2103120"/>
            <a:ext cx="1993392" cy="2011680"/>
          </a:xfrm>
          <a:prstGeom prst="roundRect">
            <a:avLst/>
          </a:prstGeom>
          <a:solidFill>
            <a:srgbClr val="141B27"/>
          </a:solidFill>
          <a:ln w="12700">
            <a:solidFill>
              <a:srgbClr val="2731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9B57DE"/>
                </a:solidFill>
                <a:latin typeface="Consolas"/>
              </a:rPr>
              <a:t>2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E9EEF5"/>
                </a:solidFill>
                <a:latin typeface="Calibri"/>
              </a:rPr>
              <a:t>Run bringup</a:t>
            </a:r>
          </a:p>
          <a:p>
            <a:r>
              <a:rPr sz="1150">
                <a:solidFill>
                  <a:srgbClr val="93A1B3"/>
                </a:solidFill>
                <a:latin typeface="Calibri"/>
              </a:rPr>
              <a:t>bringup_dpf.sh --worker worker1 — IPs/creds from config.yaml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84064" y="2103120"/>
            <a:ext cx="1993392" cy="2011680"/>
          </a:xfrm>
          <a:prstGeom prst="roundRect">
            <a:avLst/>
          </a:prstGeom>
          <a:solidFill>
            <a:srgbClr val="141B27"/>
          </a:solidFill>
          <a:ln w="12700">
            <a:solidFill>
              <a:srgbClr val="2731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9B57DE"/>
                </a:solidFill>
                <a:latin typeface="Consolas"/>
              </a:rPr>
              <a:t>3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E9EEF5"/>
                </a:solidFill>
                <a:latin typeface="Calibri"/>
              </a:rPr>
              <a:t>First boot</a:t>
            </a:r>
          </a:p>
          <a:p>
            <a:r>
              <a:rPr sz="1150">
                <a:solidFill>
                  <a:srgbClr val="93A1B3"/>
                </a:solidFill>
                <a:latin typeface="Calibri"/>
              </a:rPr>
              <a:t>2 console commands: password + systemctl start dpf-firstboot-kick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14616" y="2103120"/>
            <a:ext cx="1993392" cy="2011680"/>
          </a:xfrm>
          <a:prstGeom prst="roundRect">
            <a:avLst/>
          </a:prstGeom>
          <a:solidFill>
            <a:srgbClr val="141B27"/>
          </a:solidFill>
          <a:ln w="12700">
            <a:solidFill>
              <a:srgbClr val="2731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9B57DE"/>
                </a:solidFill>
                <a:latin typeface="Consolas"/>
              </a:rPr>
              <a:t>4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E9EEF5"/>
                </a:solidFill>
                <a:latin typeface="Calibri"/>
              </a:rPr>
              <a:t>Re-run</a:t>
            </a:r>
          </a:p>
          <a:p>
            <a:r>
              <a:rPr sz="1150">
                <a:solidFill>
                  <a:srgbClr val="93A1B3"/>
                </a:solidFill>
                <a:latin typeface="Calibri"/>
              </a:rPr>
              <a:t>DPU goes Ready, HBN DaemonSet deploys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45168" y="2103120"/>
            <a:ext cx="1993392" cy="2011680"/>
          </a:xfrm>
          <a:prstGeom prst="roundRect">
            <a:avLst/>
          </a:prstGeom>
          <a:solidFill>
            <a:srgbClr val="141B27"/>
          </a:solidFill>
          <a:ln w="12700">
            <a:solidFill>
              <a:srgbClr val="2731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9B57DE"/>
                </a:solidFill>
                <a:latin typeface="Consolas"/>
              </a:rPr>
              <a:t>5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E9EEF5"/>
                </a:solidFill>
                <a:latin typeface="Calibri"/>
              </a:rPr>
              <a:t>Host VFs</a:t>
            </a:r>
          </a:p>
          <a:p>
            <a:r>
              <a:rPr sz="1150">
                <a:solidFill>
                  <a:srgbClr val="93A1B3"/>
                </a:solidFill>
                <a:latin typeface="Calibri"/>
              </a:rPr>
              <a:t>setup_host_vfs.sh → vf0..vf7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4805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93A1B3"/>
                </a:solidFill>
                <a:latin typeface="Calibri"/>
              </a:rPr>
              <a:t>The script is idempotent — run → do the first-boot steps → re-run to finish. Full runbook: dpf/QUICKSTART.md.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v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6" y="384048"/>
            <a:ext cx="1417320" cy="34488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38251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3A1B3"/>
                </a:solidFill>
                <a:latin typeface="Calibri"/>
              </a:rPr>
              <a:t>Aviz Networks   ·   DPF + HBN on BlueField-3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75488"/>
            <a:ext cx="54864" cy="201168"/>
          </a:xfrm>
          <a:prstGeom prst="rect">
            <a:avLst/>
          </a:prstGeom>
          <a:solidFill>
            <a:srgbClr val="9B5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9B57DE"/>
                </a:solidFill>
                <a:latin typeface="Calibri"/>
              </a:rPr>
              <a:t>7 · HOST PORTS 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E9EEF5"/>
                </a:solidFill>
                <a:latin typeface="Calibri"/>
              </a:rPr>
              <a:t>Create the workload ports (host VFs)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0">
                <a:solidFill>
                  <a:srgbClr val="93A1B3"/>
                </a:solidFill>
                <a:latin typeface="Calibri"/>
              </a:rPr>
              <a:t>SR-IOV VFs on the x86 host are the ports your VMs / workloads plug into. One command creates and names them.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515600" cy="1188720"/>
          </a:xfrm>
          <a:prstGeom prst="roundRect">
            <a:avLst/>
          </a:prstGeom>
          <a:solidFill>
            <a:srgbClr val="070A10"/>
          </a:solidFill>
          <a:ln w="9525">
            <a:solidFill>
              <a:srgbClr val="9B5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09728" tIns="109728" bIns="109728"/>
          <a:lstStyle/>
          <a:p>
            <a:pPr algn="ctr">
              <a:lnSpc>
                <a:spcPct val="115000"/>
              </a:lnSpc>
              <a:spcAft>
                <a:spcPts val="100"/>
              </a:spcAft>
            </a:pPr>
            <a:r>
              <a:rPr sz="1300">
                <a:solidFill>
                  <a:srgbClr val="93A1B3"/>
                </a:solidFill>
                <a:latin typeface="Consolas"/>
              </a:rPr>
              <a:t># on the x86 host, after HBN is up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300">
                <a:solidFill>
                  <a:srgbClr val="CDD9E5"/>
                </a:solidFill>
                <a:latin typeface="Consolas"/>
              </a:rPr>
              <a:t>sudo ./dpf/scripts/setup_host_vfs.sh            </a:t>
            </a:r>
            <a:r>
              <a:rPr sz="1300">
                <a:solidFill>
                  <a:srgbClr val="93A1B3"/>
                </a:solidFill>
                <a:latin typeface="Consolas"/>
              </a:rPr>
              <a:t># → vf0 .. vf7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300">
                <a:solidFill>
                  <a:srgbClr val="CDD9E5"/>
                </a:solidFill>
                <a:latin typeface="Consolas"/>
              </a:rPr>
              <a:t>sudo ./dpf/scripts/setup_host_vfs.sh --persist  </a:t>
            </a:r>
            <a:r>
              <a:rPr sz="1300">
                <a:solidFill>
                  <a:srgbClr val="93A1B3"/>
                </a:solidFill>
                <a:latin typeface="Consolas"/>
              </a:rPr>
              <a:t># survive reboot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11480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9B57DE"/>
                </a:solidFill>
                <a:latin typeface="Calibri"/>
              </a:rPr>
              <a:t>▪  </a:t>
            </a:r>
            <a:r>
              <a:rPr sz="1600" b="1">
                <a:solidFill>
                  <a:srgbClr val="E9EEF5"/>
                </a:solidFill>
                <a:latin typeface="Calibri"/>
              </a:rPr>
              <a:t>Auto-detects</a:t>
            </a:r>
            <a:r>
              <a:rPr sz="1600" b="0">
                <a:solidFill>
                  <a:srgbClr val="E9EEF5"/>
                </a:solidFill>
                <a:latin typeface="Calibri"/>
              </a:rPr>
              <a:t> the BlueField-3 PFs by PCI id — no NIC names to look up.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9B57DE"/>
                </a:solidFill>
                <a:latin typeface="Calibri"/>
              </a:rPr>
              <a:t>▪  </a:t>
            </a:r>
            <a:r>
              <a:rPr sz="1600" b="0">
                <a:solidFill>
                  <a:srgbClr val="E9EEF5"/>
                </a:solidFill>
                <a:latin typeface="Calibri"/>
              </a:rPr>
              <a:t>Names them vf0..vf3 (PF0) and vf4..vf7 (PF1).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9B57DE"/>
                </a:solidFill>
                <a:latin typeface="Calibri"/>
              </a:rPr>
              <a:t>▪  </a:t>
            </a:r>
            <a:r>
              <a:rPr sz="1600" b="1">
                <a:solidFill>
                  <a:srgbClr val="E9EEF5"/>
                </a:solidFill>
                <a:latin typeface="Calibri"/>
              </a:rPr>
              <a:t>Refuses to run with &gt;1 BF3</a:t>
            </a:r>
            <a:r>
              <a:rPr sz="1600" b="0">
                <a:solidFill>
                  <a:srgbClr val="E9EEF5"/>
                </a:solidFill>
                <a:latin typeface="Calibri"/>
              </a:rPr>
              <a:t> on a host (avoids ambiguous naming).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v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6" y="384048"/>
            <a:ext cx="1417320" cy="34488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38251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3A1B3"/>
                </a:solidFill>
                <a:latin typeface="Calibri"/>
              </a:rPr>
              <a:t>Aviz Networks   ·   DPF + HBN on BlueField-3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75488"/>
            <a:ext cx="54864" cy="201168"/>
          </a:xfrm>
          <a:prstGeom prst="rect">
            <a:avLst/>
          </a:prstGeom>
          <a:solidFill>
            <a:srgbClr val="9B5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9B57DE"/>
                </a:solidFill>
                <a:latin typeface="Calibri"/>
              </a:rPr>
              <a:t>8 · MENTAL MODEL 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E9EEF5"/>
                </a:solidFill>
                <a:latin typeface="Calibri"/>
              </a:rPr>
              <a:t>Think of the BF3 as a router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5486400" cy="3383280"/>
          </a:xfrm>
          <a:prstGeom prst="roundRect">
            <a:avLst/>
          </a:prstGeom>
          <a:solidFill>
            <a:srgbClr val="070A10"/>
          </a:solidFill>
          <a:ln w="9525">
            <a:solidFill>
              <a:srgbClr val="9B5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09728" tIns="109728" bIns="109728"/>
          <a:lstStyle/>
          <a:p>
            <a:pPr algn="ctr">
              <a:lnSpc>
                <a:spcPct val="115000"/>
              </a:lnSpc>
              <a:spcAft>
                <a:spcPts val="100"/>
              </a:spcAft>
            </a:pPr>
            <a:r>
              <a:rPr sz="1250">
                <a:solidFill>
                  <a:srgbClr val="CDD9E5"/>
                </a:solidFill>
                <a:latin typeface="Consolas"/>
              </a:rPr>
              <a:t>          ToR / network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250">
                <a:solidFill>
                  <a:srgbClr val="CDD9E5"/>
                </a:solidFill>
                <a:latin typeface="Consolas"/>
              </a:rPr>
              <a:t>              │   │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250">
                <a:solidFill>
                  <a:srgbClr val="CDD9E5"/>
                </a:solidFill>
                <a:latin typeface="Consolas"/>
              </a:rPr>
              <a:t>            </a:t>
            </a:r>
            <a:r>
              <a:rPr sz="1250">
                <a:solidFill>
                  <a:srgbClr val="9B57DE"/>
                </a:solidFill>
                <a:latin typeface="Consolas"/>
              </a:rPr>
              <a:t>p0  p1</a:t>
            </a:r>
            <a:r>
              <a:rPr sz="1250">
                <a:solidFill>
                  <a:srgbClr val="93A1B3"/>
                </a:solidFill>
                <a:latin typeface="Consolas"/>
              </a:rPr>
              <a:t>           ← physical uplinks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250">
                <a:solidFill>
                  <a:srgbClr val="CDD9E5"/>
                </a:solidFill>
                <a:latin typeface="Consolas"/>
              </a:rPr>
              <a:t>      ┌───────┴───┴───────────┐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250">
                <a:solidFill>
                  <a:srgbClr val="CDD9E5"/>
                </a:solidFill>
                <a:latin typeface="Consolas"/>
              </a:rPr>
              <a:t>      │   BF3  =  ROUTER (FRR) │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250">
                <a:solidFill>
                  <a:srgbClr val="CDD9E5"/>
                </a:solidFill>
                <a:latin typeface="Consolas"/>
              </a:rPr>
              <a:t>      │   uplinks: p0_if p1_if │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250">
                <a:solidFill>
                  <a:srgbClr val="CDD9E5"/>
                </a:solidFill>
                <a:latin typeface="Consolas"/>
              </a:rPr>
              <a:t>      │   ports  : pf0vfN_if   │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250">
                <a:solidFill>
                  <a:srgbClr val="CDD9E5"/>
                </a:solidFill>
                <a:latin typeface="Consolas"/>
              </a:rPr>
              <a:t>      └───────────┬───────────┘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250">
                <a:solidFill>
                  <a:srgbClr val="CDD9E5"/>
                </a:solidFill>
                <a:latin typeface="Consolas"/>
              </a:rPr>
              <a:t>            </a:t>
            </a:r>
            <a:r>
              <a:rPr sz="1250">
                <a:solidFill>
                  <a:srgbClr val="9B57DE"/>
                </a:solidFill>
                <a:latin typeface="Consolas"/>
              </a:rPr>
              <a:t>vf0 … vf7</a:t>
            </a:r>
            <a:r>
              <a:rPr sz="1250">
                <a:solidFill>
                  <a:srgbClr val="93A1B3"/>
                </a:solidFill>
                <a:latin typeface="Consolas"/>
              </a:rPr>
              <a:t>          ← workloads attach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250">
                <a:solidFill>
                  <a:srgbClr val="CDD9E5"/>
                </a:solidFill>
                <a:latin typeface="Consolas"/>
              </a:rPr>
              <a:t>        x86 host / VMs &amp; apps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498079" y="1828800"/>
          <a:ext cx="39319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554480"/>
                <a:gridCol w="1097280"/>
              </a:tblGrid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93A1B3"/>
                          </a:solidFill>
                          <a:latin typeface="Calibri"/>
                        </a:rPr>
                        <a:t>Host port</a:t>
                      </a:r>
                    </a:p>
                  </a:txBody>
                  <a:tcPr marL="73152" marR="54864" marT="36576" marB="36576" anchor="t"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93A1B3"/>
                          </a:solidFill>
                          <a:latin typeface="Calibri"/>
                        </a:rPr>
                        <a:t>Router (FRR)</a:t>
                      </a:r>
                    </a:p>
                  </a:txBody>
                  <a:tcPr marL="73152" marR="54864" marT="36576" marB="36576" anchor="t"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93A1B3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73152" marR="54864" marT="36576" marB="36576" anchor="t">
                    <a:solidFill>
                      <a:srgbClr val="1A22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9C5CF"/>
                          </a:solidFill>
                          <a:latin typeface="Consolas"/>
                        </a:rPr>
                        <a:t>vf0</a:t>
                      </a:r>
                    </a:p>
                  </a:txBody>
                  <a:tcPr marL="73152" marR="54864" marT="36576" marB="36576" anchor="t">
                    <a:solidFill>
                      <a:srgbClr val="141B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9C5CF"/>
                          </a:solidFill>
                          <a:latin typeface="Consolas"/>
                        </a:rPr>
                        <a:t>pf0vf0_if</a:t>
                      </a:r>
                    </a:p>
                  </a:txBody>
                  <a:tcPr marL="73152" marR="54864" marT="36576" marB="36576" anchor="t">
                    <a:solidFill>
                      <a:srgbClr val="141B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E9EEF5"/>
                          </a:solidFill>
                          <a:latin typeface="Calibri"/>
                        </a:rPr>
                        <a:t>workload</a:t>
                      </a:r>
                    </a:p>
                  </a:txBody>
                  <a:tcPr marL="73152" marR="54864" marT="36576" marB="36576" anchor="t">
                    <a:solidFill>
                      <a:srgbClr val="141B2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9C5CF"/>
                          </a:solidFill>
                          <a:latin typeface="Consolas"/>
                        </a:rPr>
                        <a:t>vf1</a:t>
                      </a:r>
                    </a:p>
                  </a:txBody>
                  <a:tcPr marL="73152" marR="54864" marT="36576" marB="36576" anchor="t">
                    <a:solidFill>
                      <a:srgbClr val="141B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9C5CF"/>
                          </a:solidFill>
                          <a:latin typeface="Consolas"/>
                        </a:rPr>
                        <a:t>pf0vf1_if</a:t>
                      </a:r>
                    </a:p>
                  </a:txBody>
                  <a:tcPr marL="73152" marR="54864" marT="36576" marB="36576" anchor="t">
                    <a:solidFill>
                      <a:srgbClr val="141B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E9EEF5"/>
                          </a:solidFill>
                          <a:latin typeface="Calibri"/>
                        </a:rPr>
                        <a:t>workload</a:t>
                      </a:r>
                    </a:p>
                  </a:txBody>
                  <a:tcPr marL="73152" marR="54864" marT="36576" marB="36576" anchor="t">
                    <a:solidFill>
                      <a:srgbClr val="141B2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9C5CF"/>
                          </a:solidFill>
                          <a:latin typeface="Consolas"/>
                        </a:rPr>
                        <a:t>vf2</a:t>
                      </a:r>
                    </a:p>
                  </a:txBody>
                  <a:tcPr marL="73152" marR="54864" marT="36576" marB="36576" anchor="t">
                    <a:solidFill>
                      <a:srgbClr val="141B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9C5CF"/>
                          </a:solidFill>
                          <a:latin typeface="Consolas"/>
                        </a:rPr>
                        <a:t>pf0vf2_if</a:t>
                      </a:r>
                    </a:p>
                  </a:txBody>
                  <a:tcPr marL="73152" marR="54864" marT="36576" marB="36576" anchor="t">
                    <a:solidFill>
                      <a:srgbClr val="141B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E9EEF5"/>
                          </a:solidFill>
                          <a:latin typeface="Calibri"/>
                        </a:rPr>
                        <a:t>workload</a:t>
                      </a:r>
                    </a:p>
                  </a:txBody>
                  <a:tcPr marL="73152" marR="54864" marT="36576" marB="36576" anchor="t">
                    <a:solidFill>
                      <a:srgbClr val="141B2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9C5CF"/>
                          </a:solidFill>
                          <a:latin typeface="Consolas"/>
                        </a:rPr>
                        <a:t>vf3</a:t>
                      </a:r>
                    </a:p>
                  </a:txBody>
                  <a:tcPr marL="73152" marR="54864" marT="36576" marB="36576" anchor="t">
                    <a:solidFill>
                      <a:srgbClr val="141B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9C5CF"/>
                          </a:solidFill>
                          <a:latin typeface="Consolas"/>
                        </a:rPr>
                        <a:t>pf0vf3_if</a:t>
                      </a:r>
                    </a:p>
                  </a:txBody>
                  <a:tcPr marL="73152" marR="54864" marT="36576" marB="36576" anchor="t">
                    <a:solidFill>
                      <a:srgbClr val="141B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E9EEF5"/>
                          </a:solidFill>
                          <a:latin typeface="Calibri"/>
                        </a:rPr>
                        <a:t>workload</a:t>
                      </a:r>
                    </a:p>
                  </a:txBody>
                  <a:tcPr marL="73152" marR="54864" marT="36576" marB="36576" anchor="t">
                    <a:solidFill>
                      <a:srgbClr val="141B2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9C5CF"/>
                          </a:solidFill>
                          <a:latin typeface="Consolas"/>
                        </a:rPr>
                        <a:t>vf4</a:t>
                      </a:r>
                    </a:p>
                  </a:txBody>
                  <a:tcPr marL="73152" marR="54864" marT="36576" marB="36576" anchor="t">
                    <a:solidFill>
                      <a:srgbClr val="141B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9C5CF"/>
                          </a:solidFill>
                          <a:latin typeface="Consolas"/>
                        </a:rPr>
                        <a:t>pf1vf0_if</a:t>
                      </a:r>
                    </a:p>
                  </a:txBody>
                  <a:tcPr marL="73152" marR="54864" marT="36576" marB="36576" anchor="t">
                    <a:solidFill>
                      <a:srgbClr val="141B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E9EEF5"/>
                          </a:solidFill>
                          <a:latin typeface="Calibri"/>
                        </a:rPr>
                        <a:t>workload</a:t>
                      </a:r>
                    </a:p>
                  </a:txBody>
                  <a:tcPr marL="73152" marR="54864" marT="36576" marB="36576" anchor="t">
                    <a:solidFill>
                      <a:srgbClr val="141B2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9C5CF"/>
                          </a:solidFill>
                          <a:latin typeface="Consolas"/>
                        </a:rPr>
                        <a:t>vf5</a:t>
                      </a:r>
                    </a:p>
                  </a:txBody>
                  <a:tcPr marL="73152" marR="54864" marT="36576" marB="36576" anchor="t">
                    <a:solidFill>
                      <a:srgbClr val="141B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9C5CF"/>
                          </a:solidFill>
                          <a:latin typeface="Consolas"/>
                        </a:rPr>
                        <a:t>pf1vf1_if</a:t>
                      </a:r>
                    </a:p>
                  </a:txBody>
                  <a:tcPr marL="73152" marR="54864" marT="36576" marB="36576" anchor="t">
                    <a:solidFill>
                      <a:srgbClr val="141B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E9EEF5"/>
                          </a:solidFill>
                          <a:latin typeface="Calibri"/>
                        </a:rPr>
                        <a:t>workload</a:t>
                      </a:r>
                    </a:p>
                  </a:txBody>
                  <a:tcPr marL="73152" marR="54864" marT="36576" marB="36576" anchor="t">
                    <a:solidFill>
                      <a:srgbClr val="141B2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9C5CF"/>
                          </a:solidFill>
                          <a:latin typeface="Consolas"/>
                        </a:rPr>
                        <a:t>vf6</a:t>
                      </a:r>
                    </a:p>
                  </a:txBody>
                  <a:tcPr marL="73152" marR="54864" marT="36576" marB="36576" anchor="t">
                    <a:solidFill>
                      <a:srgbClr val="141B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9C5CF"/>
                          </a:solidFill>
                          <a:latin typeface="Consolas"/>
                        </a:rPr>
                        <a:t>pf1vf2_if</a:t>
                      </a:r>
                    </a:p>
                  </a:txBody>
                  <a:tcPr marL="73152" marR="54864" marT="36576" marB="36576" anchor="t">
                    <a:solidFill>
                      <a:srgbClr val="141B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E9EEF5"/>
                          </a:solidFill>
                          <a:latin typeface="Calibri"/>
                        </a:rPr>
                        <a:t>workload</a:t>
                      </a:r>
                    </a:p>
                  </a:txBody>
                  <a:tcPr marL="73152" marR="54864" marT="36576" marB="36576" anchor="t">
                    <a:solidFill>
                      <a:srgbClr val="141B2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9C5CF"/>
                          </a:solidFill>
                          <a:latin typeface="Consolas"/>
                        </a:rPr>
                        <a:t>vf7</a:t>
                      </a:r>
                    </a:p>
                  </a:txBody>
                  <a:tcPr marL="73152" marR="54864" marT="36576" marB="36576" anchor="t">
                    <a:solidFill>
                      <a:srgbClr val="141B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9C5CF"/>
                          </a:solidFill>
                          <a:latin typeface="Consolas"/>
                        </a:rPr>
                        <a:t>pf1vf3_if</a:t>
                      </a:r>
                    </a:p>
                  </a:txBody>
                  <a:tcPr marL="73152" marR="54864" marT="36576" marB="36576" anchor="t">
                    <a:solidFill>
                      <a:srgbClr val="141B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E9EEF5"/>
                          </a:solidFill>
                          <a:latin typeface="Calibri"/>
                        </a:rPr>
                        <a:t>workload</a:t>
                      </a:r>
                    </a:p>
                  </a:txBody>
                  <a:tcPr marL="73152" marR="54864" marT="36576" marB="36576" anchor="t">
                    <a:solidFill>
                      <a:srgbClr val="141B2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9C5CF"/>
                          </a:solidFill>
                          <a:latin typeface="Consolas"/>
                        </a:rPr>
                        <a:t>p0 / p1</a:t>
                      </a:r>
                    </a:p>
                  </a:txBody>
                  <a:tcPr marL="73152" marR="54864" marT="36576" marB="36576" anchor="t">
                    <a:solidFill>
                      <a:srgbClr val="141B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9C5CF"/>
                          </a:solidFill>
                          <a:latin typeface="Consolas"/>
                        </a:rPr>
                        <a:t>p0_if / p1_if</a:t>
                      </a:r>
                    </a:p>
                  </a:txBody>
                  <a:tcPr marL="73152" marR="54864" marT="36576" marB="36576" anchor="t">
                    <a:solidFill>
                      <a:srgbClr val="141B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E9EEF5"/>
                          </a:solidFill>
                          <a:latin typeface="Calibri"/>
                        </a:rPr>
                        <a:t>uplinks</a:t>
                      </a:r>
                    </a:p>
                  </a:txBody>
                  <a:tcPr marL="73152" marR="54864" marT="36576" marB="36576" anchor="t">
                    <a:solidFill>
                      <a:srgbClr val="141B2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v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6" y="384048"/>
            <a:ext cx="1417320" cy="34488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38251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3A1B3"/>
                </a:solidFill>
                <a:latin typeface="Calibri"/>
              </a:rPr>
              <a:t>Aviz Networks   ·   DPF + HBN on BlueField-3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75488"/>
            <a:ext cx="54864" cy="201168"/>
          </a:xfrm>
          <a:prstGeom prst="rect">
            <a:avLst/>
          </a:prstGeom>
          <a:solidFill>
            <a:srgbClr val="9B5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9B57DE"/>
                </a:solidFill>
                <a:latin typeface="Calibri"/>
              </a:rPr>
              <a:t>9 · DEMO 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E9EEF5"/>
                </a:solidFill>
                <a:latin typeface="Calibri"/>
              </a:rPr>
              <a:t>Is everything up?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10515600" cy="1554480"/>
          </a:xfrm>
          <a:prstGeom prst="roundRect">
            <a:avLst/>
          </a:prstGeom>
          <a:solidFill>
            <a:srgbClr val="070A10"/>
          </a:solidFill>
          <a:ln w="9525">
            <a:solidFill>
              <a:srgbClr val="9B5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09728" tIns="109728" bIns="109728"/>
          <a:lstStyle/>
          <a:p>
            <a:pPr algn="ctr">
              <a:lnSpc>
                <a:spcPct val="115000"/>
              </a:lnSpc>
              <a:spcAft>
                <a:spcPts val="100"/>
              </a:spcAft>
            </a:pPr>
            <a:r>
              <a:rPr sz="1300">
                <a:solidFill>
                  <a:srgbClr val="93A1B3"/>
                </a:solidFill>
                <a:latin typeface="Consolas"/>
              </a:rPr>
              <a:t># on the DPF Operator VM — operator + provisioning state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300">
                <a:solidFill>
                  <a:srgbClr val="CDD9E5"/>
                </a:solidFill>
                <a:latin typeface="Consolas"/>
              </a:rPr>
              <a:t>kubectl get dpfoperatorconfig -n dpf-operator-system        </a:t>
            </a:r>
            <a:r>
              <a:rPr sz="1300">
                <a:solidFill>
                  <a:srgbClr val="93A1B3"/>
                </a:solidFill>
                <a:latin typeface="Consolas"/>
              </a:rPr>
              <a:t># Ready=True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300">
                <a:solidFill>
                  <a:srgbClr val="CDD9E5"/>
                </a:solidFill>
                <a:latin typeface="Consolas"/>
              </a:rPr>
              <a:t>kubectl get dpu,dpucluster,tenantcontrolplane -n dpf-operator-system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300">
                <a:solidFill>
                  <a:srgbClr val="CDD9E5"/>
                </a:solidFill>
                <a:latin typeface="Consolas"/>
              </a:rPr>
              <a:t>./dpf/scripts/fleet_status.sh --frr                          </a:t>
            </a:r>
            <a:r>
              <a:rPr sz="1300">
                <a:solidFill>
                  <a:srgbClr val="93A1B3"/>
                </a:solidFill>
                <a:latin typeface="Consolas"/>
              </a:rPr>
              <a:t># ALL DPUs: node/HBN/FRR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657600"/>
            <a:ext cx="10515600" cy="1371600"/>
          </a:xfrm>
          <a:prstGeom prst="roundRect">
            <a:avLst/>
          </a:prstGeom>
          <a:solidFill>
            <a:srgbClr val="070A10"/>
          </a:solidFill>
          <a:ln w="9525">
            <a:solidFill>
              <a:srgbClr val="9B5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09728" tIns="109728" bIns="109728"/>
          <a:lstStyle/>
          <a:p>
            <a:pPr algn="ctr">
              <a:lnSpc>
                <a:spcPct val="115000"/>
              </a:lnSpc>
              <a:spcAft>
                <a:spcPts val="100"/>
              </a:spcAft>
            </a:pPr>
            <a:r>
              <a:rPr sz="1300">
                <a:solidFill>
                  <a:srgbClr val="E9EEF5"/>
                </a:solidFill>
                <a:latin typeface="Consolas"/>
              </a:rPr>
              <a:t>DPU s4-dpu:        Ready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300">
                <a:solidFill>
                  <a:srgbClr val="E9EEF5"/>
                </a:solidFill>
                <a:latin typeface="Consolas"/>
              </a:rPr>
              <a:t>DPUCluster:        True   Ready   kamaji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300">
                <a:solidFill>
                  <a:srgbClr val="E9EEF5"/>
                </a:solidFill>
                <a:latin typeface="Consolas"/>
              </a:rPr>
              <a:t>TenantControlPlane:  Ready  10.4.5.136:6443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v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6" y="384048"/>
            <a:ext cx="1417320" cy="34488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38251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3A1B3"/>
                </a:solidFill>
                <a:latin typeface="Calibri"/>
              </a:rPr>
              <a:t>Aviz Networks   ·   DPF + HBN on BlueField-3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75488"/>
            <a:ext cx="54864" cy="201168"/>
          </a:xfrm>
          <a:prstGeom prst="rect">
            <a:avLst/>
          </a:prstGeom>
          <a:solidFill>
            <a:srgbClr val="9B5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9B57DE"/>
                </a:solidFill>
                <a:latin typeface="Calibri"/>
              </a:rPr>
              <a:t>10 · DEMO 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E9EEF5"/>
                </a:solidFill>
                <a:latin typeface="Calibri"/>
              </a:rPr>
              <a:t>The BF3 is a worker node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10515600" cy="2926080"/>
          </a:xfrm>
          <a:prstGeom prst="roundRect">
            <a:avLst/>
          </a:prstGeom>
          <a:solidFill>
            <a:srgbClr val="070A10"/>
          </a:solidFill>
          <a:ln w="9525">
            <a:solidFill>
              <a:srgbClr val="9B5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09728" tIns="109728" bIns="109728"/>
          <a:lstStyle/>
          <a:p>
            <a:pPr algn="ctr">
              <a:lnSpc>
                <a:spcPct val="115000"/>
              </a:lnSpc>
              <a:spcAft>
                <a:spcPts val="100"/>
              </a:spcAft>
            </a:pPr>
            <a:r>
              <a:rPr sz="1250">
                <a:solidFill>
                  <a:srgbClr val="93A1B3"/>
                </a:solidFill>
                <a:latin typeface="Consolas"/>
              </a:rPr>
              <a:t># point kubectl at the DPU cluster (Kamaji)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250">
                <a:solidFill>
                  <a:srgbClr val="CDD9E5"/>
                </a:solidFill>
                <a:latin typeface="Consolas"/>
              </a:rPr>
              <a:t>D="kubectl --kubeconfig /home/dpu-vm/dpu-tc-kubeconfig"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250">
                <a:solidFill>
                  <a:srgbClr val="CDD9E5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250">
                <a:solidFill>
                  <a:srgbClr val="CDD9E5"/>
                </a:solidFill>
                <a:latin typeface="Consolas"/>
              </a:rPr>
              <a:t>$D get nodes -o wide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250">
                <a:solidFill>
                  <a:srgbClr val="E9EEF5"/>
                </a:solidFill>
                <a:latin typeface="Consolas"/>
              </a:rPr>
              <a:t>NAME     STATUS   ROLES    VERSION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250">
                <a:solidFill>
                  <a:srgbClr val="E9EEF5"/>
                </a:solidFill>
                <a:latin typeface="Consolas"/>
              </a:rPr>
              <a:t>s4-dpu   Ready    &lt;none&gt;   v1.34.4      </a:t>
            </a:r>
            <a:r>
              <a:rPr sz="1250">
                <a:solidFill>
                  <a:srgbClr val="93A1B3"/>
                </a:solidFill>
                <a:latin typeface="Consolas"/>
              </a:rPr>
              <a:t># ← the BF3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250">
                <a:solidFill>
                  <a:srgbClr val="CDD9E5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250">
                <a:solidFill>
                  <a:srgbClr val="CDD9E5"/>
                </a:solidFill>
                <a:latin typeface="Consolas"/>
              </a:rPr>
              <a:t>$D get pods -A | grep -E 'doca-hbn|flannel|coredns'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250">
                <a:solidFill>
                  <a:srgbClr val="E9EEF5"/>
                </a:solidFill>
                <a:latin typeface="Consolas"/>
              </a:rPr>
              <a:t>doca-hbn   doca-hbn-xxxxx   1/1   Running   </a:t>
            </a:r>
            <a:r>
              <a:rPr sz="1250">
                <a:solidFill>
                  <a:srgbClr val="93A1B3"/>
                </a:solidFill>
                <a:latin typeface="Consolas"/>
              </a:rPr>
              <a:t># ← HBN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029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93A1B3"/>
                </a:solidFill>
                <a:latin typeface="Calibri"/>
              </a:rPr>
              <a:t>100 DPUs = 100 worker nodes in this view. Add one → its HBN DaemonSet pod schedules automatically.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v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6" y="384048"/>
            <a:ext cx="1417320" cy="34488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38251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3A1B3"/>
                </a:solidFill>
                <a:latin typeface="Calibri"/>
              </a:rPr>
              <a:t>Aviz Networks   ·   DPF + HBN on BlueField-3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75488"/>
            <a:ext cx="54864" cy="201168"/>
          </a:xfrm>
          <a:prstGeom prst="rect">
            <a:avLst/>
          </a:prstGeom>
          <a:solidFill>
            <a:srgbClr val="9B5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9B57DE"/>
                </a:solidFill>
                <a:latin typeface="Calibri"/>
              </a:rPr>
              <a:t>11 · DEMO — THE PAYOFF 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E9EEF5"/>
                </a:solidFill>
                <a:latin typeface="Calibri"/>
              </a:rPr>
              <a:t>Reach FRR with kubectl — no SSH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10515600" cy="3200400"/>
          </a:xfrm>
          <a:prstGeom prst="roundRect">
            <a:avLst/>
          </a:prstGeom>
          <a:solidFill>
            <a:srgbClr val="070A10"/>
          </a:solidFill>
          <a:ln w="9525">
            <a:solidFill>
              <a:srgbClr val="9B5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09728" tIns="109728" bIns="109728"/>
          <a:lstStyle/>
          <a:p>
            <a:pPr algn="ctr">
              <a:lnSpc>
                <a:spcPct val="115000"/>
              </a:lnSpc>
              <a:spcAft>
                <a:spcPts val="100"/>
              </a:spcAft>
            </a:pPr>
            <a:r>
              <a:rPr sz="1250">
                <a:solidFill>
                  <a:srgbClr val="CDD9E5"/>
                </a:solidFill>
                <a:latin typeface="Consolas"/>
              </a:rPr>
              <a:t>POD=$($D get pod -n doca-hbn -o jsonpath='{.items[0].metadata.name}')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250">
                <a:solidFill>
                  <a:srgbClr val="CDD9E5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250">
                <a:solidFill>
                  <a:srgbClr val="93A1B3"/>
                </a:solidFill>
                <a:latin typeface="Consolas"/>
              </a:rPr>
              <a:t># drop into FRR's CLI (zebra/bgpd/staticd answer through vtysh)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250">
                <a:solidFill>
                  <a:srgbClr val="CDD9E5"/>
                </a:solidFill>
                <a:latin typeface="Consolas"/>
              </a:rPr>
              <a:t>$D exec -it -n doca-hbn $POD -- </a:t>
            </a:r>
            <a:r>
              <a:rPr sz="1250">
                <a:solidFill>
                  <a:srgbClr val="9B57DE"/>
                </a:solidFill>
                <a:latin typeface="Consolas"/>
              </a:rPr>
              <a:t>vtysh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250">
                <a:solidFill>
                  <a:srgbClr val="CDD9E5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250">
                <a:solidFill>
                  <a:srgbClr val="E9EEF5"/>
                </a:solidFill>
                <a:latin typeface="Consolas"/>
              </a:rPr>
              <a:t>doca-hbn# show interface brief        </a:t>
            </a:r>
            <a:r>
              <a:rPr sz="1250">
                <a:solidFill>
                  <a:srgbClr val="93A1B3"/>
                </a:solidFill>
                <a:latin typeface="Consolas"/>
              </a:rPr>
              <a:t># p0_if, pf0vf0_if …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250">
                <a:solidFill>
                  <a:srgbClr val="E9EEF5"/>
                </a:solidFill>
                <a:latin typeface="Consolas"/>
              </a:rPr>
              <a:t>doca-hbn# show ip route               </a:t>
            </a:r>
            <a:r>
              <a:rPr sz="1250">
                <a:solidFill>
                  <a:srgbClr val="93A1B3"/>
                </a:solidFill>
                <a:latin typeface="Consolas"/>
              </a:rPr>
              <a:t># zebra's RIB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250">
                <a:solidFill>
                  <a:srgbClr val="CDD9E5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250">
                <a:solidFill>
                  <a:srgbClr val="93A1B3"/>
                </a:solidFill>
                <a:latin typeface="Consolas"/>
              </a:rPr>
              <a:t># one-shot, no shell: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250">
                <a:solidFill>
                  <a:srgbClr val="CDD9E5"/>
                </a:solidFill>
                <a:latin typeface="Consolas"/>
              </a:rPr>
              <a:t>$D exec -n doca-hbn $POD -- vtysh -c "show interface brief"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303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93A1B3"/>
                </a:solidFill>
                <a:latin typeface="Calibri"/>
              </a:rPr>
              <a:t>kubectl exec rides the cluster → BF3 kubelet → into the HBN container. Same command for any DPU in the fleet.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v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6" y="384048"/>
            <a:ext cx="1417320" cy="34488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38251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3A1B3"/>
                </a:solidFill>
                <a:latin typeface="Calibri"/>
              </a:rPr>
              <a:t>Aviz Networks   ·   DPF + HBN on BlueField-3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75488"/>
            <a:ext cx="54864" cy="201168"/>
          </a:xfrm>
          <a:prstGeom prst="rect">
            <a:avLst/>
          </a:prstGeom>
          <a:solidFill>
            <a:srgbClr val="9B5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9B57DE"/>
                </a:solidFill>
                <a:latin typeface="Calibri"/>
              </a:rPr>
              <a:t>12 · CURRENT SCOPE &amp; CAVEATS 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E9EEF5"/>
                </a:solidFill>
                <a:latin typeface="Calibri"/>
              </a:rPr>
              <a:t>What works today — and what doesn't yet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9B57DE"/>
                </a:solidFill>
                <a:latin typeface="Calibri"/>
              </a:rPr>
              <a:t>▪  </a:t>
            </a:r>
            <a:r>
              <a:rPr sz="1600" b="1">
                <a:solidFill>
                  <a:srgbClr val="E9EEF5"/>
                </a:solidFill>
                <a:latin typeface="Calibri"/>
              </a:rPr>
              <a:t>Multi-DPU works</a:t>
            </a:r>
            <a:r>
              <a:rPr sz="1600" b="0">
                <a:solidFill>
                  <a:srgbClr val="E9EEF5"/>
                </a:solidFill>
                <a:latin typeface="Calibri"/>
              </a:rPr>
              <a:t> — one operator manages many BF3s (S4 :6443 + S2 :6444 validated simultaneously; unique apiserver_port per worker in config.yaml).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9B57DE"/>
                </a:solidFill>
                <a:latin typeface="Calibri"/>
              </a:rPr>
              <a:t>▪  </a:t>
            </a:r>
            <a:r>
              <a:rPr sz="1600" b="1">
                <a:solidFill>
                  <a:srgbClr val="E9EEF5"/>
                </a:solidFill>
                <a:latin typeface="Calibri"/>
              </a:rPr>
              <a:t>Flashing is via rshim, not Redfish. </a:t>
            </a:r>
            <a:r>
              <a:rPr sz="1600" b="0">
                <a:solidFill>
                  <a:srgbClr val="E9EEF5"/>
                </a:solidFill>
                <a:latin typeface="Calibri"/>
              </a:rPr>
              <a:t>The OS flash goes through the x86 host's PCIe rshim (--rshim-install), so the x86 host must be reachable with a working rshim. Redfish works only for a genuine BFB version change; S4 was already on the target version, so rshim was required.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9B57DE"/>
                </a:solidFill>
                <a:latin typeface="Calibri"/>
              </a:rPr>
              <a:t>▪  </a:t>
            </a:r>
            <a:r>
              <a:rPr sz="1600" b="1">
                <a:solidFill>
                  <a:srgbClr val="E9EEF5"/>
                </a:solidFill>
                <a:latin typeface="Calibri"/>
              </a:rPr>
              <a:t>Fresh-flash first boot = 2 console commands</a:t>
            </a:r>
            <a:r>
              <a:rPr sz="1600" b="0">
                <a:solidFill>
                  <a:srgbClr val="E9EEF5"/>
                </a:solidFill>
                <a:latin typeface="Calibri"/>
              </a:rPr>
              <a:t> — password + systemctl start dpf-firstboot-kick; later boots hands-off.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v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6" y="384048"/>
            <a:ext cx="1417320" cy="34488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38251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3A1B3"/>
                </a:solidFill>
                <a:latin typeface="Calibri"/>
              </a:rPr>
              <a:t>Aviz Networks   ·   DPF + HBN on BlueField-3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75488"/>
            <a:ext cx="54864" cy="201168"/>
          </a:xfrm>
          <a:prstGeom prst="rect">
            <a:avLst/>
          </a:prstGeom>
          <a:solidFill>
            <a:srgbClr val="9B5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9B57DE"/>
                </a:solidFill>
                <a:latin typeface="Calibri"/>
              </a:rPr>
              <a:t>13 · YOUR WORKFLOW 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E9EEF5"/>
                </a:solidFill>
                <a:latin typeface="Calibri"/>
              </a:rPr>
              <a:t>Day-to-day for the team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920240"/>
            <a:ext cx="3383280" cy="1737360"/>
          </a:xfrm>
          <a:prstGeom prst="roundRect">
            <a:avLst/>
          </a:prstGeom>
          <a:solidFill>
            <a:srgbClr val="141B27"/>
          </a:solidFill>
          <a:ln w="12700">
            <a:solidFill>
              <a:srgbClr val="2731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9B57DE"/>
                </a:solidFill>
                <a:latin typeface="Calibri"/>
              </a:rPr>
              <a:t>Provision</a:t>
            </a:r>
          </a:p>
          <a:p>
            <a:r>
              <a:rPr sz="1200">
                <a:solidFill>
                  <a:srgbClr val="93A1B3"/>
                </a:solidFill>
                <a:latin typeface="Calibri"/>
              </a:rPr>
              <a:t>bringup_dpf.sh → BF3 flashed, joined, HBN running. Follow QUICKSTART.md.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920240"/>
            <a:ext cx="3383280" cy="1737360"/>
          </a:xfrm>
          <a:prstGeom prst="roundRect">
            <a:avLst/>
          </a:prstGeom>
          <a:solidFill>
            <a:srgbClr val="141B27"/>
          </a:solidFill>
          <a:ln w="12700">
            <a:solidFill>
              <a:srgbClr val="2731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9B57DE"/>
                </a:solidFill>
                <a:latin typeface="Calibri"/>
              </a:rPr>
              <a:t>Operate FRR</a:t>
            </a:r>
          </a:p>
          <a:p>
            <a:r>
              <a:rPr sz="1200">
                <a:solidFill>
                  <a:srgbClr val="93A1B3"/>
                </a:solidFill>
                <a:latin typeface="Calibri"/>
              </a:rPr>
              <a:t>Your UI / NVUE / REST manages routing on the FRR interfaces — the primary path.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18704" y="1920240"/>
            <a:ext cx="3383280" cy="1737360"/>
          </a:xfrm>
          <a:prstGeom prst="roundRect">
            <a:avLst/>
          </a:prstGeom>
          <a:solidFill>
            <a:srgbClr val="141B27"/>
          </a:solidFill>
          <a:ln w="12700">
            <a:solidFill>
              <a:srgbClr val="2731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09728" tIns="91440" bIns="73152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9B57DE"/>
                </a:solidFill>
                <a:latin typeface="Calibri"/>
              </a:rPr>
              <a:t>Debug</a:t>
            </a:r>
          </a:p>
          <a:p>
            <a:r>
              <a:rPr sz="1200">
                <a:solidFill>
                  <a:srgbClr val="93A1B3"/>
                </a:solidFill>
                <a:latin typeface="Calibri"/>
              </a:rPr>
              <a:t>kubectl exec → vtysh, pod logs, status_dpf.sh. See CHEATSHEET.md.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148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9B57DE"/>
                </a:solidFill>
                <a:latin typeface="Calibri"/>
              </a:rPr>
              <a:t>▪  </a:t>
            </a:r>
            <a:r>
              <a:rPr sz="1600" b="1">
                <a:solidFill>
                  <a:srgbClr val="E9EEF5"/>
                </a:solidFill>
                <a:latin typeface="Calibri"/>
              </a:rPr>
              <a:t>Fleet model: </a:t>
            </a:r>
            <a:r>
              <a:rPr sz="1600" b="0">
                <a:solidFill>
                  <a:srgbClr val="E9EEF5"/>
                </a:solidFill>
                <a:latin typeface="Calibri"/>
              </a:rPr>
              <a:t>one DPF VM, many BF3 nodes — provision and inspect them all from one place.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9B57DE"/>
                </a:solidFill>
                <a:latin typeface="Calibri"/>
              </a:rPr>
              <a:t>▪  </a:t>
            </a:r>
            <a:r>
              <a:rPr sz="1600" b="1">
                <a:solidFill>
                  <a:srgbClr val="E9EEF5"/>
                </a:solidFill>
                <a:latin typeface="Calibri"/>
              </a:rPr>
              <a:t>First bringup of a new server: </a:t>
            </a:r>
            <a:r>
              <a:rPr sz="1600" b="0">
                <a:solidFill>
                  <a:srgbClr val="E9EEF5"/>
                </a:solidFill>
                <a:latin typeface="Calibri"/>
              </a:rPr>
              <a:t>do it with support on hand (BMC behavior varies per box).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v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6" y="384048"/>
            <a:ext cx="1417320" cy="34488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38251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3A1B3"/>
                </a:solidFill>
                <a:latin typeface="Calibri"/>
              </a:rPr>
              <a:t>Aviz Networks   ·   DPF + HBN on BlueField-3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75488"/>
            <a:ext cx="54864" cy="201168"/>
          </a:xfrm>
          <a:prstGeom prst="rect">
            <a:avLst/>
          </a:prstGeom>
          <a:solidFill>
            <a:srgbClr val="9B5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9B57DE"/>
                </a:solidFill>
                <a:latin typeface="Calibri"/>
              </a:rPr>
              <a:t>14 · REFERENCES 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777240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E9EEF5"/>
                </a:solidFill>
                <a:latin typeface="Calibri"/>
              </a:rPr>
              <a:t>Where everything lives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920240"/>
          <a:ext cx="8686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5394960"/>
              </a:tblGrid>
              <a:tr h="5943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93A1B3"/>
                          </a:solidFill>
                          <a:latin typeface="Calibri"/>
                        </a:rPr>
                        <a:t>Doc</a:t>
                      </a:r>
                    </a:p>
                  </a:txBody>
                  <a:tcPr marL="73152" marR="54864" marT="36576" marB="36576" anchor="t"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93A1B3"/>
                          </a:solidFill>
                          <a:latin typeface="Calibri"/>
                        </a:rPr>
                        <a:t>Use it for</a:t>
                      </a:r>
                    </a:p>
                  </a:txBody>
                  <a:tcPr marL="73152" marR="54864" marT="36576" marB="36576" anchor="t">
                    <a:solidFill>
                      <a:srgbClr val="1A223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9C5CF"/>
                          </a:solidFill>
                          <a:latin typeface="Consolas"/>
                        </a:rPr>
                        <a:t>dpf/QUICKSTART.md</a:t>
                      </a:r>
                    </a:p>
                  </a:txBody>
                  <a:tcPr marL="73152" marR="54864" marT="36576" marB="36576" anchor="t">
                    <a:solidFill>
                      <a:srgbClr val="141B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9EEF5"/>
                          </a:solidFill>
                          <a:latin typeface="Calibri"/>
                        </a:rPr>
                        <a:t>Run it — linear bringup steps + first-boot</a:t>
                      </a:r>
                    </a:p>
                  </a:txBody>
                  <a:tcPr marL="73152" marR="54864" marT="36576" marB="36576" anchor="t">
                    <a:solidFill>
                      <a:srgbClr val="141B2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9C5CF"/>
                          </a:solidFill>
                          <a:latin typeface="Consolas"/>
                        </a:rPr>
                        <a:t>dpf/CHEATSHEET.md</a:t>
                      </a:r>
                    </a:p>
                  </a:txBody>
                  <a:tcPr marL="73152" marR="54864" marT="36576" marB="36576" anchor="t">
                    <a:solidFill>
                      <a:srgbClr val="141B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9EEF5"/>
                          </a:solidFill>
                          <a:latin typeface="Calibri"/>
                        </a:rPr>
                        <a:t>Operate it — pods/nodes/HBN/vtysh</a:t>
                      </a:r>
                    </a:p>
                  </a:txBody>
                  <a:tcPr marL="73152" marR="54864" marT="36576" marB="36576" anchor="t">
                    <a:solidFill>
                      <a:srgbClr val="141B2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9C5CF"/>
                          </a:solidFill>
                          <a:latin typeface="Consolas"/>
                        </a:rPr>
                        <a:t>dpf/README.md</a:t>
                      </a:r>
                    </a:p>
                  </a:txBody>
                  <a:tcPr marL="73152" marR="54864" marT="36576" marB="36576" anchor="t">
                    <a:solidFill>
                      <a:srgbClr val="141B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9EEF5"/>
                          </a:solidFill>
                          <a:latin typeface="Calibri"/>
                        </a:rPr>
                        <a:t>Understand it — architecture + every known issue</a:t>
                      </a:r>
                    </a:p>
                  </a:txBody>
                  <a:tcPr marL="73152" marR="54864" marT="36576" marB="36576" anchor="t">
                    <a:solidFill>
                      <a:srgbClr val="141B2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4663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9B57DE"/>
                </a:solidFill>
                <a:latin typeface="Calibri"/>
              </a:rPr>
              <a:t>Questions? → live demo.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